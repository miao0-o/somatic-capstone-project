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Roboto"/>
      <p:regular r:id="rId28"/>
      <p:bold r:id="rId29"/>
      <p:italic r:id="rId30"/>
      <p:boldItalic r:id="rId31"/>
    </p:embeddedFont>
    <p:embeddedFont>
      <p:font typeface="PT Serif"/>
      <p:regular r:id="rId32"/>
      <p:bold r:id="rId33"/>
      <p:italic r:id="rId34"/>
      <p:boldItalic r:id="rId35"/>
    </p:embeddedFont>
    <p:embeddedFont>
      <p:font typeface="Montserrat"/>
      <p:regular r:id="rId36"/>
      <p:bold r:id="rId37"/>
      <p:italic r:id="rId38"/>
      <p:boldItalic r:id="rId39"/>
    </p:embeddedFont>
    <p:embeddedFont>
      <p:font typeface="Sura"/>
      <p:bold r:id="rId40"/>
    </p:embeddedFont>
    <p:embeddedFont>
      <p:font typeface="EB Garamon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DF39EC-1803-4F0C-95F4-EEB6FED43408}">
  <a:tblStyle styleId="{8ADF39EC-1803-4F0C-95F4-EEB6FED4340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ura-bold.fntdata"/><Relationship Id="rId20" Type="http://schemas.openxmlformats.org/officeDocument/2006/relationships/slide" Target="slides/slide13.xml"/><Relationship Id="rId42" Type="http://schemas.openxmlformats.org/officeDocument/2006/relationships/font" Target="fonts/EBGaramond-bold.fntdata"/><Relationship Id="rId41" Type="http://schemas.openxmlformats.org/officeDocument/2006/relationships/font" Target="fonts/EBGaramond-regular.fntdata"/><Relationship Id="rId22" Type="http://schemas.openxmlformats.org/officeDocument/2006/relationships/slide" Target="slides/slide15.xml"/><Relationship Id="rId44" Type="http://schemas.openxmlformats.org/officeDocument/2006/relationships/font" Target="fonts/EBGaramond-boldItalic.fntdata"/><Relationship Id="rId21" Type="http://schemas.openxmlformats.org/officeDocument/2006/relationships/slide" Target="slides/slide14.xml"/><Relationship Id="rId43" Type="http://schemas.openxmlformats.org/officeDocument/2006/relationships/font" Target="fonts/EBGaramond-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33" Type="http://schemas.openxmlformats.org/officeDocument/2006/relationships/font" Target="fonts/PTSerif-bold.fntdata"/><Relationship Id="rId10" Type="http://schemas.openxmlformats.org/officeDocument/2006/relationships/slide" Target="slides/slide3.xml"/><Relationship Id="rId32" Type="http://schemas.openxmlformats.org/officeDocument/2006/relationships/font" Target="fonts/PTSerif-regular.fntdata"/><Relationship Id="rId13" Type="http://schemas.openxmlformats.org/officeDocument/2006/relationships/slide" Target="slides/slide6.xml"/><Relationship Id="rId35" Type="http://schemas.openxmlformats.org/officeDocument/2006/relationships/font" Target="fonts/PTSerif-boldItalic.fntdata"/><Relationship Id="rId12" Type="http://schemas.openxmlformats.org/officeDocument/2006/relationships/slide" Target="slides/slide5.xml"/><Relationship Id="rId34" Type="http://schemas.openxmlformats.org/officeDocument/2006/relationships/font" Target="fonts/PTSerif-italic.fntdata"/><Relationship Id="rId15" Type="http://schemas.openxmlformats.org/officeDocument/2006/relationships/slide" Target="slides/slide8.xml"/><Relationship Id="rId37" Type="http://schemas.openxmlformats.org/officeDocument/2006/relationships/font" Target="fonts/Montserrat-bold.fntdata"/><Relationship Id="rId14" Type="http://schemas.openxmlformats.org/officeDocument/2006/relationships/slide" Target="slides/slide7.xml"/><Relationship Id="rId36" Type="http://schemas.openxmlformats.org/officeDocument/2006/relationships/font" Target="fonts/Montserrat-regular.fntdata"/><Relationship Id="rId17" Type="http://schemas.openxmlformats.org/officeDocument/2006/relationships/slide" Target="slides/slide10.xml"/><Relationship Id="rId39" Type="http://schemas.openxmlformats.org/officeDocument/2006/relationships/font" Target="fonts/Montserrat-boldItalic.fntdata"/><Relationship Id="rId16" Type="http://schemas.openxmlformats.org/officeDocument/2006/relationships/slide" Target="slides/slide9.xml"/><Relationship Id="rId38" Type="http://schemas.openxmlformats.org/officeDocument/2006/relationships/font" Target="fonts/Montserrat-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611d23b4f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Hello everyone,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 Miao Yu, and this project was done together with my partner, Jessica Tanchone. We’re excited to share our capstone project with you tall oday.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127" name="Google Shape;127;g37611d23b4f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61106dda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project is titled </a:t>
            </a:r>
            <a:r>
              <a:rPr i="1" lang="en">
                <a:solidFill>
                  <a:schemeClr val="dk1"/>
                </a:solidFill>
              </a:rPr>
              <a:t>Predicting Somatic Symptoms Using Psychological and Demographic Factors.</a:t>
            </a:r>
            <a:r>
              <a:rPr lang="en">
                <a:solidFill>
                  <a:schemeClr val="dk1"/>
                </a:solidFill>
              </a:rPr>
              <a:t> In this talk, we’ll walk you through our summer progress so far.</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
        <p:nvSpPr>
          <p:cNvPr id="146" name="Google Shape;146;g3761106dda8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1913b0671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115000"/>
              </a:lnSpc>
              <a:spcBef>
                <a:spcPts val="600"/>
              </a:spcBef>
              <a:spcAft>
                <a:spcPts val="0"/>
              </a:spcAft>
              <a:buClr>
                <a:schemeClr val="dk1"/>
              </a:buClr>
              <a:buSzPts val="1100"/>
              <a:buFont typeface="Arial"/>
              <a:buNone/>
            </a:pPr>
            <a:r>
              <a:rPr lang="en" sz="1800">
                <a:solidFill>
                  <a:srgbClr val="1F1F1F"/>
                </a:solidFill>
                <a:latin typeface="Times New Roman"/>
                <a:ea typeface="Times New Roman"/>
                <a:cs typeface="Times New Roman"/>
                <a:sym typeface="Times New Roman"/>
              </a:rPr>
              <a:t>10% of adults experience persistent symptoms that are not fully explained by a medical condition</a:t>
            </a:r>
            <a:endParaRPr sz="1800">
              <a:solidFill>
                <a:srgbClr val="1F1F1F"/>
              </a:solidFill>
              <a:latin typeface="Times New Roman"/>
              <a:ea typeface="Times New Roman"/>
              <a:cs typeface="Times New Roman"/>
              <a:sym typeface="Times New Roman"/>
            </a:endParaRPr>
          </a:p>
          <a:p>
            <a:pPr indent="457200" lvl="0" marL="0" rtl="0" algn="l">
              <a:lnSpc>
                <a:spcPct val="115000"/>
              </a:lnSpc>
              <a:spcBef>
                <a:spcPts val="600"/>
              </a:spcBef>
              <a:spcAft>
                <a:spcPts val="0"/>
              </a:spcAft>
              <a:buClr>
                <a:schemeClr val="dk1"/>
              </a:buClr>
              <a:buSzPts val="1100"/>
              <a:buFont typeface="Arial"/>
              <a:buNone/>
            </a:pPr>
            <a:r>
              <a:rPr lang="en" sz="1800">
                <a:solidFill>
                  <a:srgbClr val="1F1F1F"/>
                </a:solidFill>
                <a:latin typeface="Times New Roman"/>
                <a:ea typeface="Times New Roman"/>
                <a:cs typeface="Times New Roman"/>
                <a:sym typeface="Times New Roman"/>
              </a:rPr>
              <a:t>20-45% Primary care visits involve symptoms that cannot be clearly linked to physical disease</a:t>
            </a:r>
            <a:endParaRPr sz="1800">
              <a:solidFill>
                <a:srgbClr val="1F1F1F"/>
              </a:solidFill>
              <a:latin typeface="Times New Roman"/>
              <a:ea typeface="Times New Roman"/>
              <a:cs typeface="Times New Roman"/>
              <a:sym typeface="Times New Roman"/>
            </a:endParaRPr>
          </a:p>
          <a:p>
            <a:pPr indent="457200" lvl="0" marL="0" rtl="0" algn="l">
              <a:lnSpc>
                <a:spcPct val="115000"/>
              </a:lnSpc>
              <a:spcBef>
                <a:spcPts val="600"/>
              </a:spcBef>
              <a:spcAft>
                <a:spcPts val="600"/>
              </a:spcAft>
              <a:buClr>
                <a:schemeClr val="dk1"/>
              </a:buClr>
              <a:buSzPts val="1100"/>
              <a:buFont typeface="Arial"/>
              <a:buNone/>
            </a:pPr>
            <a:r>
              <a:rPr lang="en" sz="1800">
                <a:solidFill>
                  <a:srgbClr val="1F1F1F"/>
                </a:solidFill>
                <a:latin typeface="Times New Roman"/>
                <a:ea typeface="Times New Roman"/>
                <a:cs typeface="Times New Roman"/>
                <a:sym typeface="Times New Roman"/>
              </a:rPr>
              <a:t>69% depressed patient presented with only physical complaints such as back pain or fatigue and did not report emotional distress</a:t>
            </a:r>
            <a:endParaRPr sz="1800">
              <a:solidFill>
                <a:srgbClr val="1F1F1F"/>
              </a:solidFill>
              <a:latin typeface="Times New Roman"/>
              <a:ea typeface="Times New Roman"/>
              <a:cs typeface="Times New Roman"/>
              <a:sym typeface="Times New Roman"/>
            </a:endParaRPr>
          </a:p>
        </p:txBody>
      </p:sp>
      <p:sp>
        <p:nvSpPr>
          <p:cNvPr id="164" name="Google Shape;164;g3a1913b0671_0_10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611d23b4f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05000"/>
              </a:lnSpc>
              <a:spcBef>
                <a:spcPts val="1200"/>
              </a:spcBef>
              <a:spcAft>
                <a:spcPts val="0"/>
              </a:spcAft>
              <a:buClr>
                <a:schemeClr val="dk1"/>
              </a:buClr>
              <a:buSzPts val="1400"/>
              <a:buFont typeface="PT Serif"/>
              <a:buChar char="●"/>
            </a:pPr>
            <a:r>
              <a:rPr lang="en" sz="1400">
                <a:solidFill>
                  <a:schemeClr val="dk1"/>
                </a:solidFill>
                <a:latin typeface="PT Serif"/>
                <a:ea typeface="PT Serif"/>
                <a:cs typeface="PT Serif"/>
                <a:sym typeface="PT Serif"/>
              </a:rPr>
              <a:t>Predict the 13 PHQ-15 symptoms using psychological and demographic variables.</a:t>
            </a:r>
            <a:endParaRPr sz="1400">
              <a:solidFill>
                <a:schemeClr val="dk1"/>
              </a:solidFill>
              <a:latin typeface="PT Serif"/>
              <a:ea typeface="PT Serif"/>
              <a:cs typeface="PT Serif"/>
              <a:sym typeface="PT Serif"/>
            </a:endParaRPr>
          </a:p>
          <a:p>
            <a:pPr indent="-317500" lvl="0" marL="457200" rtl="0" algn="l">
              <a:lnSpc>
                <a:spcPct val="105000"/>
              </a:lnSpc>
              <a:spcBef>
                <a:spcPts val="0"/>
              </a:spcBef>
              <a:spcAft>
                <a:spcPts val="0"/>
              </a:spcAft>
              <a:buClr>
                <a:schemeClr val="dk1"/>
              </a:buClr>
              <a:buSzPts val="1400"/>
              <a:buChar char="●"/>
            </a:pPr>
            <a:r>
              <a:rPr lang="en" sz="1400">
                <a:solidFill>
                  <a:schemeClr val="dk1"/>
                </a:solidFill>
                <a:latin typeface="PT Serif"/>
                <a:ea typeface="PT Serif"/>
                <a:cs typeface="PT Serif"/>
                <a:sym typeface="PT Serif"/>
              </a:rPr>
              <a:t>Compare the performance of GLMnet, KNN, Gradient Boost, Random Forest, and neural network models.</a:t>
            </a:r>
            <a:endParaRPr sz="1400">
              <a:solidFill>
                <a:schemeClr val="dk1"/>
              </a:solidFill>
              <a:latin typeface="PT Serif"/>
              <a:ea typeface="PT Serif"/>
              <a:cs typeface="PT Serif"/>
              <a:sym typeface="PT Serif"/>
            </a:endParaRPr>
          </a:p>
          <a:p>
            <a:pPr indent="-317500" lvl="0" marL="457200" rtl="0" algn="l">
              <a:lnSpc>
                <a:spcPct val="105000"/>
              </a:lnSpc>
              <a:spcBef>
                <a:spcPts val="0"/>
              </a:spcBef>
              <a:spcAft>
                <a:spcPts val="0"/>
              </a:spcAft>
              <a:buClr>
                <a:schemeClr val="dk1"/>
              </a:buClr>
              <a:buSzPts val="1400"/>
              <a:buChar char="●"/>
            </a:pPr>
            <a:r>
              <a:rPr lang="en" sz="1400">
                <a:solidFill>
                  <a:schemeClr val="dk1"/>
                </a:solidFill>
                <a:latin typeface="PT Serif"/>
                <a:ea typeface="PT Serif"/>
                <a:cs typeface="PT Serif"/>
                <a:sym typeface="PT Serif"/>
              </a:rPr>
              <a:t>Interpret and visualize the most influential predictors using SHAP (Shapley Additive Explanations) values.</a:t>
            </a:r>
            <a:endParaRPr sz="1400">
              <a:solidFill>
                <a:schemeClr val="dk1"/>
              </a:solidFill>
              <a:latin typeface="PT Serif"/>
              <a:ea typeface="PT Serif"/>
              <a:cs typeface="PT Serif"/>
              <a:sym typeface="PT Serif"/>
            </a:endParaRPr>
          </a:p>
          <a:p>
            <a:pPr indent="0" lvl="0" marL="0" rtl="0" algn="l">
              <a:lnSpc>
                <a:spcPct val="105000"/>
              </a:lnSpc>
              <a:spcBef>
                <a:spcPts val="1200"/>
              </a:spcBef>
              <a:spcAft>
                <a:spcPts val="0"/>
              </a:spcAft>
              <a:buNone/>
            </a:pPr>
            <a:r>
              <a:t/>
            </a:r>
            <a:endParaRPr sz="1400">
              <a:solidFill>
                <a:schemeClr val="dk1"/>
              </a:solidFill>
              <a:latin typeface="PT Serif"/>
              <a:ea typeface="PT Serif"/>
              <a:cs typeface="PT Serif"/>
              <a:sym typeface="PT Serif"/>
            </a:endParaRPr>
          </a:p>
          <a:p>
            <a:pPr indent="0" lvl="0" marL="0" rtl="0" algn="l">
              <a:lnSpc>
                <a:spcPct val="115000"/>
              </a:lnSpc>
              <a:spcBef>
                <a:spcPts val="1200"/>
              </a:spcBef>
              <a:spcAft>
                <a:spcPts val="0"/>
              </a:spcAft>
              <a:buNone/>
            </a:pPr>
            <a:r>
              <a:t/>
            </a:r>
            <a:endParaRPr sz="1200"/>
          </a:p>
        </p:txBody>
      </p:sp>
      <p:sp>
        <p:nvSpPr>
          <p:cNvPr id="184" name="Google Shape;184;g37611d23b4f_1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611d23b4f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7611d23b4f_1_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0f3604b6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solidFill>
                  <a:schemeClr val="dk1"/>
                </a:solidFill>
              </a:rPr>
              <a:t>Brief introduction to PHQ-15, what symptoms does it include.</a:t>
            </a:r>
            <a:endParaRPr>
              <a:solidFill>
                <a:schemeClr val="dk1"/>
              </a:solidFill>
            </a:endParaRPr>
          </a:p>
        </p:txBody>
      </p:sp>
      <p:sp>
        <p:nvSpPr>
          <p:cNvPr id="221" name="Google Shape;221;g390f3604b63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611d23b4f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50">
                <a:solidFill>
                  <a:schemeClr val="dk1"/>
                </a:solidFill>
              </a:rPr>
              <a:t>Headache</a:t>
            </a:r>
            <a:endParaRPr b="1" sz="1550">
              <a:solidFill>
                <a:schemeClr val="dk1"/>
              </a:solidFill>
            </a:endParaRPr>
          </a:p>
          <a:p>
            <a:pPr indent="-327025" lvl="0" marL="457200" rtl="0" algn="l">
              <a:spcBef>
                <a:spcPts val="0"/>
              </a:spcBef>
              <a:spcAft>
                <a:spcPts val="0"/>
              </a:spcAft>
              <a:buClr>
                <a:schemeClr val="dk1"/>
              </a:buClr>
              <a:buSzPts val="1550"/>
              <a:buChar char="●"/>
            </a:pPr>
            <a:r>
              <a:rPr lang="en" sz="1550">
                <a:solidFill>
                  <a:schemeClr val="dk1"/>
                </a:solidFill>
              </a:rPr>
              <a:t>Often associated with stress, mood symptoms, and heightened sensitivity to bodily sensations, reflecting strong psychological contributions in many cases.</a:t>
            </a:r>
            <a:endParaRPr sz="1550">
              <a:solidFill>
                <a:schemeClr val="dk1"/>
              </a:solidFill>
            </a:endParaRPr>
          </a:p>
          <a:p>
            <a:pPr indent="0" lvl="0" marL="0" rtl="0" algn="l">
              <a:spcBef>
                <a:spcPts val="0"/>
              </a:spcBef>
              <a:spcAft>
                <a:spcPts val="0"/>
              </a:spcAft>
              <a:buClr>
                <a:schemeClr val="dk1"/>
              </a:buClr>
              <a:buSzPts val="1100"/>
              <a:buFont typeface="Arial"/>
              <a:buNone/>
            </a:pPr>
            <a:r>
              <a:rPr b="1" lang="en" sz="1550">
                <a:solidFill>
                  <a:schemeClr val="dk1"/>
                </a:solidFill>
              </a:rPr>
              <a:t>Shortness of breath / chest pain (stronger physical associations)</a:t>
            </a:r>
            <a:endParaRPr b="1" sz="1550">
              <a:solidFill>
                <a:schemeClr val="dk1"/>
              </a:solidFill>
            </a:endParaRPr>
          </a:p>
          <a:p>
            <a:pPr indent="-327025" lvl="0" marL="457200" rtl="0" algn="l">
              <a:spcBef>
                <a:spcPts val="0"/>
              </a:spcBef>
              <a:spcAft>
                <a:spcPts val="0"/>
              </a:spcAft>
              <a:buClr>
                <a:schemeClr val="dk1"/>
              </a:buClr>
              <a:buSzPts val="1550"/>
              <a:buChar char="●"/>
            </a:pPr>
            <a:r>
              <a:rPr lang="en" sz="1550">
                <a:solidFill>
                  <a:schemeClr val="dk1"/>
                </a:solidFill>
              </a:rPr>
              <a:t>Often tied to identifiable medical conditions—e.g., asthma in young adults and heart or pulmonary disease in older populations (Zachariah et al., 2017).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1550">
                <a:solidFill>
                  <a:schemeClr val="dk1"/>
                </a:solidFill>
              </a:rPr>
              <a:t>Fatigue</a:t>
            </a:r>
            <a:endParaRPr b="1" sz="1550">
              <a:solidFill>
                <a:schemeClr val="dk1"/>
              </a:solidFill>
            </a:endParaRPr>
          </a:p>
          <a:p>
            <a:pPr indent="-327025" lvl="0" marL="457200" rtl="0" algn="l">
              <a:spcBef>
                <a:spcPts val="0"/>
              </a:spcBef>
              <a:spcAft>
                <a:spcPts val="0"/>
              </a:spcAft>
              <a:buClr>
                <a:schemeClr val="dk1"/>
              </a:buClr>
              <a:buSzPts val="1550"/>
              <a:buChar char="●"/>
            </a:pPr>
            <a:r>
              <a:rPr lang="en" sz="1550">
                <a:solidFill>
                  <a:schemeClr val="dk1"/>
                </a:solidFill>
              </a:rPr>
              <a:t>Strongly linked to psychosocial factors—stress, chronic illness, anxiety, and neuroticism (Creed et al., 2022).</a:t>
            </a:r>
            <a:endParaRPr sz="1550">
              <a:solidFill>
                <a:schemeClr val="dk1"/>
              </a:solidFill>
            </a:endParaRPr>
          </a:p>
          <a:p>
            <a:pPr indent="0" lvl="0" marL="0" rtl="0" algn="l">
              <a:spcBef>
                <a:spcPts val="0"/>
              </a:spcBef>
              <a:spcAft>
                <a:spcPts val="0"/>
              </a:spcAft>
              <a:buClr>
                <a:schemeClr val="dk1"/>
              </a:buClr>
              <a:buSzPts val="1100"/>
              <a:buFont typeface="Arial"/>
              <a:buNone/>
            </a:pPr>
            <a:r>
              <a:rPr b="1" lang="en" sz="1550">
                <a:solidFill>
                  <a:schemeClr val="dk1"/>
                </a:solidFill>
              </a:rPr>
              <a:t>Sleep problems</a:t>
            </a:r>
            <a:endParaRPr b="1" sz="1550">
              <a:solidFill>
                <a:schemeClr val="dk1"/>
              </a:solidFill>
            </a:endParaRPr>
          </a:p>
          <a:p>
            <a:pPr indent="-327025" lvl="0" marL="457200" rtl="0" algn="l">
              <a:spcBef>
                <a:spcPts val="0"/>
              </a:spcBef>
              <a:spcAft>
                <a:spcPts val="0"/>
              </a:spcAft>
              <a:buClr>
                <a:schemeClr val="dk1"/>
              </a:buClr>
              <a:buSzPts val="1550"/>
              <a:buChar char="●"/>
            </a:pPr>
            <a:r>
              <a:rPr lang="en" sz="1550">
                <a:solidFill>
                  <a:schemeClr val="dk1"/>
                </a:solidFill>
              </a:rPr>
              <a:t>Common in chronic health conditions; increased by financial strain and reduced by physical activity (Meredith et al., 2020).</a:t>
            </a:r>
            <a:endParaRPr sz="155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those prior research shows each symptom tends to have its own psychological and physiological correlates.</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that‘s highligh that somatic symptoms should not be treated as a single category but understood individually.</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241" name="Google Shape;241;g37611d23b4f_1_1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611d23b4f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solidFill>
                <a:schemeClr val="dk1"/>
              </a:solidFill>
            </a:endParaRPr>
          </a:p>
        </p:txBody>
      </p:sp>
      <p:sp>
        <p:nvSpPr>
          <p:cNvPr id="256" name="Google Shape;256;g37611d23b4f_1_1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1913b0671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br>
              <a:rPr b="1" lang="en">
                <a:solidFill>
                  <a:schemeClr val="dk1"/>
                </a:solidFill>
              </a:rPr>
            </a:br>
            <a:r>
              <a:rPr lang="en">
                <a:solidFill>
                  <a:schemeClr val="dk1"/>
                </a:solidFill>
              </a:rPr>
              <a:t>We used core demographic variables such as sex, education level, race and ethnicity, household income, and the school participants attended.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also included family-related factors. Parental marriage status was recoded into categorical dummy variables. The sibling variable was simplified so that –0.5 represents having no siblings and 0.5 represents having at least one sibling.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Besides that we also include one attitudinal predictor: the importance of marriage, measured with a single-item rating.</a:t>
            </a:r>
            <a:endParaRPr>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275" name="Google Shape;275;g3a1913b0671_0_9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f3f27647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Here we show the psychological predictors included in our models.</a:t>
            </a:r>
            <a:br>
              <a:rPr b="1" lang="en">
                <a:solidFill>
                  <a:schemeClr val="dk1"/>
                </a:solidFill>
              </a:rPr>
            </a:br>
            <a:r>
              <a:rPr lang="en">
                <a:solidFill>
                  <a:schemeClr val="dk1"/>
                </a:solidFill>
              </a:rPr>
              <a:t>We grouped these into four main categories.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First, individual differences and personality.</a:t>
            </a:r>
            <a:br>
              <a:rPr b="1" lang="en">
                <a:solidFill>
                  <a:schemeClr val="dk1"/>
                </a:solidFill>
              </a:rPr>
            </a:br>
            <a:r>
              <a:rPr lang="en">
                <a:solidFill>
                  <a:schemeClr val="dk1"/>
                </a:solidFill>
              </a:rPr>
              <a:t>This includes scales like identity exploration (IDEA-8), narcissism, interpersonal exploitativeness, self-efficacy, and mindfulness.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Second, social and interpersonal factors.</a:t>
            </a:r>
            <a:br>
              <a:rPr b="1" lang="en">
                <a:solidFill>
                  <a:schemeClr val="dk1"/>
                </a:solidFill>
              </a:rPr>
            </a:br>
            <a:r>
              <a:rPr lang="en">
                <a:solidFill>
                  <a:schemeClr val="dk1"/>
                </a:solidFill>
              </a:rPr>
              <a:t>We used measures of perceived social support, need to belong, interpersonal transgressions, and different types of social media 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Third, stress and well-being.</a:t>
            </a:r>
            <a:br>
              <a:rPr b="1" lang="en">
                <a:solidFill>
                  <a:schemeClr val="dk1"/>
                </a:solidFill>
              </a:rPr>
            </a:br>
            <a:r>
              <a:rPr lang="en">
                <a:solidFill>
                  <a:schemeClr val="dk1"/>
                </a:solidFill>
              </a:rPr>
              <a:t>This includes perceived stress, subjective well-being, disability identity and status, and beliefs related to the American Dream.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Finally, markers of adulthood.</a:t>
            </a:r>
            <a:br>
              <a:rPr b="1" lang="en">
                <a:solidFill>
                  <a:schemeClr val="dk1"/>
                </a:solidFill>
              </a:rPr>
            </a:br>
            <a:r>
              <a:rPr lang="en">
                <a:solidFill>
                  <a:schemeClr val="dk1"/>
                </a:solidFill>
              </a:rPr>
              <a:t>We included the achievement and importance subscales, each with 20 items.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Together, these predictors represent a wide range of psychological characteristics that may relate to somatic symptoms.</a:t>
            </a:r>
            <a:endParaRPr b="1">
              <a:solidFill>
                <a:schemeClr val="dk1"/>
              </a:solidFill>
            </a:endParaRPr>
          </a:p>
          <a:p>
            <a:pPr indent="0" lvl="0" marL="0" rtl="0" algn="l">
              <a:spcBef>
                <a:spcPts val="1200"/>
              </a:spcBef>
              <a:spcAft>
                <a:spcPts val="0"/>
              </a:spcAft>
              <a:buNone/>
            </a:pPr>
            <a:r>
              <a:t/>
            </a:r>
            <a:endParaRPr>
              <a:solidFill>
                <a:schemeClr val="dk1"/>
              </a:solidFill>
            </a:endParaRPr>
          </a:p>
        </p:txBody>
      </p:sp>
      <p:sp>
        <p:nvSpPr>
          <p:cNvPr id="293" name="Google Shape;293;g39f3f27647d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1913b0671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t</a:t>
            </a:r>
            <a:r>
              <a:rPr lang="en"/>
              <a:t>hese are the 13 somatic symptoms from the PHQ-15 and are our outcome. Each symptom was modeled separately, allowing us to see whether different psychological and demographic predictors matter for different symptoms.</a:t>
            </a:r>
            <a:endParaRPr/>
          </a:p>
        </p:txBody>
      </p:sp>
      <p:sp>
        <p:nvSpPr>
          <p:cNvPr id="322" name="Google Shape;322;g3a1913b0671_0_10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761106dda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J:</a:t>
            </a:r>
            <a:endParaRPr/>
          </a:p>
          <a:p>
            <a:pPr indent="0" lvl="0" marL="0" rtl="0" algn="l">
              <a:lnSpc>
                <a:spcPct val="115000"/>
              </a:lnSpc>
              <a:spcBef>
                <a:spcPts val="1200"/>
              </a:spcBef>
              <a:spcAft>
                <a:spcPts val="0"/>
              </a:spcAft>
              <a:buClr>
                <a:schemeClr val="dk1"/>
              </a:buClr>
              <a:buSzPts val="1100"/>
              <a:buFont typeface="Arial"/>
              <a:buNone/>
            </a:pPr>
            <a:r>
              <a:rPr lang="en"/>
              <a:t>Before running our models, we applied several preprocessing steps to prepare the data.</a:t>
            </a:r>
            <a:endParaRPr/>
          </a:p>
          <a:p>
            <a:pPr indent="0" lvl="0" marL="0" rtl="0" algn="l">
              <a:lnSpc>
                <a:spcPct val="115000"/>
              </a:lnSpc>
              <a:spcBef>
                <a:spcPts val="1200"/>
              </a:spcBef>
              <a:spcAft>
                <a:spcPts val="0"/>
              </a:spcAft>
              <a:buClr>
                <a:schemeClr val="dk1"/>
              </a:buClr>
              <a:buSzPts val="1100"/>
              <a:buFont typeface="Arial"/>
              <a:buNone/>
            </a:pPr>
            <a:r>
              <a:rPr lang="en"/>
              <a:t>First, we handled missing values using simple imputation to avoid losing cases with just a few missing entries.</a:t>
            </a:r>
            <a:endParaRPr/>
          </a:p>
          <a:p>
            <a:pPr indent="0" lvl="0" marL="0" rtl="0" algn="l">
              <a:lnSpc>
                <a:spcPct val="115000"/>
              </a:lnSpc>
              <a:spcBef>
                <a:spcPts val="1200"/>
              </a:spcBef>
              <a:spcAft>
                <a:spcPts val="0"/>
              </a:spcAft>
              <a:buClr>
                <a:schemeClr val="dk1"/>
              </a:buClr>
              <a:buSzPts val="1100"/>
              <a:buFont typeface="Arial"/>
              <a:buNone/>
            </a:pPr>
            <a:r>
              <a:rPr lang="en"/>
              <a:t>Then we encoded categorical variables using one-hot encoding, so that models could handle non-numeric features like gender or parental marriage status.</a:t>
            </a:r>
            <a:endParaRPr/>
          </a:p>
          <a:p>
            <a:pPr indent="0" lvl="0" marL="0" rtl="0" algn="l">
              <a:lnSpc>
                <a:spcPct val="115000"/>
              </a:lnSpc>
              <a:spcBef>
                <a:spcPts val="1200"/>
              </a:spcBef>
              <a:spcAft>
                <a:spcPts val="0"/>
              </a:spcAft>
              <a:buClr>
                <a:schemeClr val="dk1"/>
              </a:buClr>
              <a:buSzPts val="1100"/>
              <a:buFont typeface="Arial"/>
              <a:buNone/>
            </a:pPr>
            <a:r>
              <a:rPr lang="en"/>
              <a:t>We also scaled numeric predictors using standardization, especially important for models like logistic regression and KNN that are sensitive to variable scale.</a:t>
            </a:r>
            <a:endParaRPr/>
          </a:p>
          <a:p>
            <a:pPr indent="0" lvl="0" marL="0" rtl="0" algn="l">
              <a:lnSpc>
                <a:spcPct val="115000"/>
              </a:lnSpc>
              <a:spcBef>
                <a:spcPts val="1200"/>
              </a:spcBef>
              <a:spcAft>
                <a:spcPts val="0"/>
              </a:spcAft>
              <a:buClr>
                <a:schemeClr val="dk1"/>
              </a:buClr>
              <a:buSzPts val="1100"/>
              <a:buFont typeface="Arial"/>
              <a:buNone/>
            </a:pPr>
            <a:r>
              <a:rPr lang="en"/>
              <a:t>Finally, we split the data into training and testing sets using stratification, which ensured that the symptom classes were balanced across both sets.</a:t>
            </a:r>
            <a:endParaRPr/>
          </a:p>
          <a:p>
            <a:pPr indent="0" lvl="0" marL="0" rtl="0" algn="l">
              <a:spcBef>
                <a:spcPts val="1200"/>
              </a:spcBef>
              <a:spcAft>
                <a:spcPts val="0"/>
              </a:spcAft>
              <a:buNone/>
            </a:pPr>
            <a:r>
              <a:t/>
            </a:r>
            <a:endParaRPr/>
          </a:p>
        </p:txBody>
      </p:sp>
      <p:sp>
        <p:nvSpPr>
          <p:cNvPr id="340" name="Google Shape;340;g3761106dda8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761106dda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For our analysis, we tested a broad set of machine learning models.</a:t>
            </a:r>
            <a:br>
              <a:rPr b="1" lang="en">
                <a:solidFill>
                  <a:schemeClr val="dk1"/>
                </a:solidFill>
              </a:rPr>
            </a:br>
            <a:r>
              <a:rPr lang="en">
                <a:solidFill>
                  <a:schemeClr val="dk1"/>
                </a:solidFill>
              </a:rPr>
              <a:t>We included both linear and nonlinear approaches to capture different kinds of relationships in the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used logistic regression with GLMnet, K-nearest neighbors, and several tree-based models including random forest, extra-trees, XGBoost, CatBoost, and LightGBM.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also included a voting ensemble model, which combines predictions from multiple algorithms, and finally a neural network model using TabNet-dee - </a:t>
            </a:r>
            <a:r>
              <a:rPr lang="en" sz="1200">
                <a:solidFill>
                  <a:srgbClr val="0A0A0A"/>
                </a:solidFill>
                <a:latin typeface="Roboto"/>
                <a:ea typeface="Roboto"/>
                <a:cs typeface="Roboto"/>
                <a:sym typeface="Roboto"/>
              </a:rPr>
              <a:t>Deep learning for tabular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Using this diverse set of models allowed us to compare performance and identify which approaches best predict each somatic symptom.</a:t>
            </a:r>
            <a:endParaRPr b="1">
              <a:solidFill>
                <a:schemeClr val="dk1"/>
              </a:solidFill>
            </a:endParaRPr>
          </a:p>
          <a:p>
            <a:pPr indent="0" lvl="0" marL="0" rtl="0" algn="l">
              <a:spcBef>
                <a:spcPts val="1200"/>
              </a:spcBef>
              <a:spcAft>
                <a:spcPts val="0"/>
              </a:spcAft>
              <a:buNone/>
            </a:pPr>
            <a:r>
              <a:t/>
            </a:r>
            <a:endParaRPr>
              <a:solidFill>
                <a:schemeClr val="dk1"/>
              </a:solidFill>
            </a:endParaRPr>
          </a:p>
        </p:txBody>
      </p:sp>
      <p:sp>
        <p:nvSpPr>
          <p:cNvPr id="358" name="Google Shape;358;g3761106dda8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7611d23b4f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For evaluation, we focused on metrics that work well with imbalanced data.</a:t>
            </a:r>
            <a:br>
              <a:rPr b="1" lang="en">
                <a:solidFill>
                  <a:schemeClr val="dk1"/>
                </a:solidFill>
              </a:rPr>
            </a:br>
            <a:r>
              <a:rPr lang="en">
                <a:solidFill>
                  <a:schemeClr val="dk1"/>
                </a:solidFill>
              </a:rPr>
              <a:t>The plot on the right shows the </a:t>
            </a:r>
            <a:r>
              <a:rPr b="1" lang="en">
                <a:solidFill>
                  <a:schemeClr val="dk1"/>
                </a:solidFill>
              </a:rPr>
              <a:t>prevalence of each of the 13 physical symptoms</a:t>
            </a:r>
            <a:r>
              <a:rPr lang="en">
                <a:solidFill>
                  <a:schemeClr val="dk1"/>
                </a:solidFill>
              </a:rPr>
              <a:t> in our dataset. Each point represents the proportion of participants who reported experiencing that symptom.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 we see is that </a:t>
            </a:r>
            <a:r>
              <a:rPr b="1" lang="en">
                <a:solidFill>
                  <a:schemeClr val="dk1"/>
                </a:solidFill>
              </a:rPr>
              <a:t>some symptoms are extremely common</a:t>
            </a:r>
            <a:r>
              <a:rPr lang="en">
                <a:solidFill>
                  <a:schemeClr val="dk1"/>
                </a:solidFill>
              </a:rPr>
              <a:t>, like trouble sleeping and fatigue, with prevalence above 60–80%. Others are </a:t>
            </a:r>
            <a:r>
              <a:rPr b="1" lang="en">
                <a:solidFill>
                  <a:schemeClr val="dk1"/>
                </a:solidFill>
              </a:rPr>
              <a:t>very rare</a:t>
            </a:r>
            <a:r>
              <a:rPr lang="en">
                <a:solidFill>
                  <a:schemeClr val="dk1"/>
                </a:solidFill>
              </a:rPr>
              <a:t>, such as dizziness or fainting spells, with prevalence below 10%. The red dashed line marks a 50% threshold so you can quickly see which symptoms are below or above that midpoint.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wide spread demonstrates why we cannot rely on regular accuracy which is predicting the majority class would look ‘accurate’ for rare symptoms but would actually be meaningless.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of this, we used: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Balanced accuracy</a:t>
            </a:r>
            <a:r>
              <a:rPr lang="en">
                <a:solidFill>
                  <a:schemeClr val="dk1"/>
                </a:solidFill>
              </a:rPr>
              <a:t>, which treats both classes fairly,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ROC–AUC</a:t>
            </a:r>
            <a:r>
              <a:rPr lang="en">
                <a:solidFill>
                  <a:schemeClr val="dk1"/>
                </a:solidFill>
              </a:rPr>
              <a:t>, which measures how well the model separates the two classes, and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F1 score</a:t>
            </a:r>
            <a:r>
              <a:rPr lang="en">
                <a:solidFill>
                  <a:schemeClr val="dk1"/>
                </a:solidFill>
              </a:rPr>
              <a:t>, which balances precision and recall.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also assessed </a:t>
            </a:r>
            <a:r>
              <a:rPr b="1" lang="en">
                <a:solidFill>
                  <a:schemeClr val="dk1"/>
                </a:solidFill>
              </a:rPr>
              <a:t>feature importance</a:t>
            </a:r>
            <a:r>
              <a:rPr lang="en">
                <a:solidFill>
                  <a:schemeClr val="dk1"/>
                </a:solidFill>
              </a:rPr>
              <a:t> using </a:t>
            </a:r>
            <a:r>
              <a:rPr b="1" lang="en">
                <a:solidFill>
                  <a:schemeClr val="dk1"/>
                </a:solidFill>
              </a:rPr>
              <a:t>Shapley values</a:t>
            </a:r>
            <a:r>
              <a:rPr lang="en">
                <a:solidFill>
                  <a:schemeClr val="dk1"/>
                </a:solidFill>
              </a:rPr>
              <a:t>, to understand what predictors were driving the model’s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376" name="Google Shape;376;g37611d23b4f_1_1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90f3604b6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This figure shows the best F1 score achieved for each symptom. The x-axis represents the F1 score, which ranges from 0 to 1, and the y-axis lists the symptoms along with the model that performed best for each one.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Unlike ROC–AUC, these F1 results show much stronger performance across several symptoms. For example, symptoms like trouble sleeping, chest pain, and fatigue reach F1 scores above .80, and fatigue reaches as high as .93. This indicates that our models are doing a very good job correctly identifying these symptoms without producing many false positives.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Other symptoms, such as joint pain, constipation, and dizziness, fall more in the .40 to .60 range, indicating moderate predictive success.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One important observation is that </a:t>
            </a:r>
            <a:r>
              <a:rPr b="1" lang="en" sz="1300">
                <a:solidFill>
                  <a:schemeClr val="dk1"/>
                </a:solidFill>
              </a:rPr>
              <a:t>different symptoms are best modeled by different algorithms</a:t>
            </a:r>
            <a:r>
              <a:rPr lang="en" sz="1300">
                <a:solidFill>
                  <a:schemeClr val="dk1"/>
                </a:solidFill>
              </a:rPr>
              <a:t>, including TabNet-Deep, ExtraTrees, and stacking ensembles. This again reinforces our rationale that symptoms should be analyzed individually rather than treated as a single PHQ-15 score.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Although ROC–AUC is commonly treated as the primary metric, in our case the F1 scores turned out to be especially informative. This is because F1 directly reflects performance on the </a:t>
            </a:r>
            <a:r>
              <a:rPr i="1" lang="en" sz="1300">
                <a:solidFill>
                  <a:schemeClr val="dk1"/>
                </a:solidFill>
              </a:rPr>
              <a:t>positive</a:t>
            </a:r>
            <a:r>
              <a:rPr lang="en" sz="1300">
                <a:solidFill>
                  <a:schemeClr val="dk1"/>
                </a:solidFill>
              </a:rPr>
              <a:t> class — in our case, the presence of a somatic symptom — which is usually the minority class. Many of our symptoms are highly imbalanced, so a model can achieve a decent ROC–AUC but still make few correct predictions for the positive cases.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F1, however, balances precision and recall, so it tells us how often the model actually detects symptoms correctly without producing too many false alarms. Because of this, the F1 results offer a more clinically meaningful perspective, and in many symptoms the F1 performance is stronger than ROC–AUC</a:t>
            </a:r>
            <a:endParaRPr sz="1300">
              <a:solidFill>
                <a:schemeClr val="dk1"/>
              </a:solidFill>
            </a:endParaRPr>
          </a:p>
          <a:p>
            <a:pPr indent="0" lvl="0" marL="0" rtl="0" algn="l">
              <a:spcBef>
                <a:spcPts val="1200"/>
              </a:spcBef>
              <a:spcAft>
                <a:spcPts val="0"/>
              </a:spcAft>
              <a:buNone/>
            </a:pPr>
            <a:r>
              <a:t/>
            </a:r>
            <a:endParaRPr>
              <a:solidFill>
                <a:schemeClr val="dk1"/>
              </a:solidFill>
            </a:endParaRPr>
          </a:p>
        </p:txBody>
      </p:sp>
      <p:sp>
        <p:nvSpPr>
          <p:cNvPr id="412" name="Google Shape;412;g390f3604b63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761106dda8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The </a:t>
            </a:r>
            <a:r>
              <a:rPr b="1" lang="en">
                <a:solidFill>
                  <a:schemeClr val="dk1"/>
                </a:solidFill>
              </a:rPr>
              <a:t>y-axis</a:t>
            </a:r>
            <a:r>
              <a:rPr lang="en">
                <a:solidFill>
                  <a:schemeClr val="dk1"/>
                </a:solidFill>
              </a:rPr>
              <a:t> lists all 13 somatic symptoms from the PHQ-15.</a:t>
            </a:r>
            <a:br>
              <a:rPr lang="en">
                <a:solidFill>
                  <a:schemeClr val="dk1"/>
                </a:solidFill>
              </a:rPr>
            </a:br>
            <a:r>
              <a:rPr lang="en">
                <a:solidFill>
                  <a:schemeClr val="dk1"/>
                </a:solidFill>
              </a:rPr>
              <a:t>Each symptom appears once, paired with the model that performed best for that symptom—for example, </a:t>
            </a:r>
            <a:r>
              <a:rPr i="1" lang="en">
                <a:solidFill>
                  <a:schemeClr val="dk1"/>
                </a:solidFill>
              </a:rPr>
              <a:t>Back pain (Elastic Net)</a:t>
            </a:r>
            <a:r>
              <a:rPr lang="en">
                <a:solidFill>
                  <a:schemeClr val="dk1"/>
                </a:solidFill>
              </a:rPr>
              <a:t> or </a:t>
            </a:r>
            <a:r>
              <a:rPr i="1" lang="en">
                <a:solidFill>
                  <a:schemeClr val="dk1"/>
                </a:solidFill>
              </a:rPr>
              <a:t>Dizziness (ExtraTrees)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b="1" lang="en">
                <a:solidFill>
                  <a:schemeClr val="dk1"/>
                </a:solidFill>
              </a:rPr>
              <a:t>x-axis</a:t>
            </a:r>
            <a:r>
              <a:rPr lang="en">
                <a:solidFill>
                  <a:schemeClr val="dk1"/>
                </a:solidFill>
              </a:rPr>
              <a:t> represents the </a:t>
            </a:r>
            <a:r>
              <a:rPr b="1" lang="en">
                <a:solidFill>
                  <a:schemeClr val="dk1"/>
                </a:solidFill>
              </a:rPr>
              <a:t>ROC–AUC value</a:t>
            </a:r>
            <a:r>
              <a:rPr lang="en">
                <a:solidFill>
                  <a:schemeClr val="dk1"/>
                </a:solidFill>
              </a:rPr>
              <a:t>, which ranges from 0 to 1.</a:t>
            </a:r>
            <a:br>
              <a:rPr lang="en">
                <a:solidFill>
                  <a:schemeClr val="dk1"/>
                </a:solidFill>
              </a:rPr>
            </a:br>
            <a:r>
              <a:rPr lang="en">
                <a:solidFill>
                  <a:schemeClr val="dk1"/>
                </a:solidFill>
              </a:rPr>
              <a:t>Higher values indicate better discrimination between “symptom present” versus “symptom absent.”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red dashed vertical line marks a </a:t>
            </a:r>
            <a:r>
              <a:rPr b="1" lang="en">
                <a:solidFill>
                  <a:schemeClr val="dk1"/>
                </a:solidFill>
              </a:rPr>
              <a:t>0.70 ROC–AUC threshold</a:t>
            </a:r>
            <a:r>
              <a:rPr lang="en">
                <a:solidFill>
                  <a:schemeClr val="dk1"/>
                </a:solidFill>
              </a:rPr>
              <a:t>, which is commonly used as a benchmark for good predictive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few patterns stand out: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Most symptoms fall in the .60–.69 range</a:t>
            </a:r>
            <a:r>
              <a:rPr lang="en">
                <a:solidFill>
                  <a:schemeClr val="dk1"/>
                </a:solidFill>
              </a:rPr>
              <a:t>, which means they are moderately predictable but not strongly so.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Several symptoms exceed the 0.70 threshold—such as </a:t>
            </a:r>
            <a:r>
              <a:rPr b="1" lang="en">
                <a:solidFill>
                  <a:schemeClr val="dk1"/>
                </a:solidFill>
              </a:rPr>
              <a:t>fatigue</a:t>
            </a:r>
            <a:r>
              <a:rPr lang="en">
                <a:solidFill>
                  <a:schemeClr val="dk1"/>
                </a:solidFill>
              </a:rPr>
              <a:t>, </a:t>
            </a:r>
            <a:r>
              <a:rPr b="1" lang="en">
                <a:solidFill>
                  <a:schemeClr val="dk1"/>
                </a:solidFill>
              </a:rPr>
              <a:t>dizziness</a:t>
            </a:r>
            <a:r>
              <a:rPr lang="en">
                <a:solidFill>
                  <a:schemeClr val="dk1"/>
                </a:solidFill>
              </a:rPr>
              <a:t>, </a:t>
            </a:r>
            <a:r>
              <a:rPr b="1" lang="en">
                <a:solidFill>
                  <a:schemeClr val="dk1"/>
                </a:solidFill>
              </a:rPr>
              <a:t>trouble sleeping</a:t>
            </a:r>
            <a:r>
              <a:rPr lang="en">
                <a:solidFill>
                  <a:schemeClr val="dk1"/>
                </a:solidFill>
              </a:rPr>
              <a:t>, and </a:t>
            </a:r>
            <a:r>
              <a:rPr b="1" lang="en">
                <a:solidFill>
                  <a:schemeClr val="dk1"/>
                </a:solidFill>
              </a:rPr>
              <a:t>heart pounding/racing</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Fatigue</a:t>
            </a:r>
            <a:r>
              <a:rPr lang="en">
                <a:solidFill>
                  <a:schemeClr val="dk1"/>
                </a:solidFill>
              </a:rPr>
              <a:t> is by far the most predictable symptom, reaching an ROC–AUC of </a:t>
            </a:r>
            <a:r>
              <a:rPr b="1" lang="en">
                <a:solidFill>
                  <a:schemeClr val="dk1"/>
                </a:solidFill>
              </a:rPr>
              <a:t>0.78</a:t>
            </a:r>
            <a:r>
              <a:rPr lang="en">
                <a:solidFill>
                  <a:schemeClr val="dk1"/>
                </a:solidFill>
              </a:rPr>
              <a:t>, which is the highest across all symptoms.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Another key finding is that </a:t>
            </a:r>
            <a:r>
              <a:rPr b="1" lang="en">
                <a:solidFill>
                  <a:schemeClr val="dk1"/>
                </a:solidFill>
              </a:rPr>
              <a:t>different symptoms are best predicted by different models</a:t>
            </a:r>
            <a:r>
              <a:rPr lang="en">
                <a:solidFill>
                  <a:schemeClr val="dk1"/>
                </a:solidFill>
              </a:rPr>
              <a:t>.</a:t>
            </a:r>
            <a:br>
              <a:rPr lang="en">
                <a:solidFill>
                  <a:schemeClr val="dk1"/>
                </a:solidFill>
              </a:rPr>
            </a:br>
            <a:r>
              <a:rPr lang="en">
                <a:solidFill>
                  <a:schemeClr val="dk1"/>
                </a:solidFill>
              </a:rPr>
              <a:t>Some symptoms are best captured by linear models like Elastic Net, while others work better with tree-based models such as ExtraTrees or Random Forest, or even ensemble methods.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Overall, this plot shows two main insights: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Predictive performance varies widely across symptoms.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No single model is universally best—each symptom has its own optimal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reinforces why analyzing symptoms individually provides a more nuanced understanding than using a single PHQ-15 total score.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436" name="Google Shape;436;g3761106dda8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7611d23b4f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Now we turn to the feature-importance results, using SHAP values.</a:t>
            </a:r>
            <a:br>
              <a:rPr b="1" lang="en" sz="1200">
                <a:solidFill>
                  <a:schemeClr val="dk1"/>
                </a:solidFill>
              </a:rPr>
            </a:br>
            <a:r>
              <a:rPr lang="en" sz="1200">
                <a:solidFill>
                  <a:schemeClr val="dk1"/>
                </a:solidFill>
              </a:rPr>
              <a:t>These plots show the </a:t>
            </a:r>
            <a:r>
              <a:rPr b="1" lang="en" sz="1200">
                <a:solidFill>
                  <a:schemeClr val="dk1"/>
                </a:solidFill>
              </a:rPr>
              <a:t>top 15 most influential predictors</a:t>
            </a:r>
            <a:r>
              <a:rPr lang="en" sz="1200">
                <a:solidFill>
                  <a:schemeClr val="dk1"/>
                </a:solidFill>
              </a:rPr>
              <a:t> for two of our key symptoms: </a:t>
            </a:r>
            <a:r>
              <a:rPr b="1" lang="en" sz="1200">
                <a:solidFill>
                  <a:schemeClr val="dk1"/>
                </a:solidFill>
              </a:rPr>
              <a:t>fatigue</a:t>
            </a:r>
            <a:r>
              <a:rPr lang="en" sz="1200">
                <a:solidFill>
                  <a:schemeClr val="dk1"/>
                </a:solidFill>
              </a:rPr>
              <a:t> on the left and </a:t>
            </a:r>
            <a:r>
              <a:rPr b="1" lang="en" sz="1200">
                <a:solidFill>
                  <a:schemeClr val="dk1"/>
                </a:solidFill>
              </a:rPr>
              <a:t>dizziness </a:t>
            </a:r>
            <a:r>
              <a:rPr lang="en" sz="1200">
                <a:solidFill>
                  <a:schemeClr val="dk1"/>
                </a:solidFill>
              </a:rPr>
              <a:t>on the right.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A larger SHAP value means the variable had a bigger impact on predicting whether someone reported this symptom.</a:t>
            </a:r>
            <a:endParaRPr b="1" sz="13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Looking at the </a:t>
            </a:r>
            <a:r>
              <a:rPr b="1" lang="en">
                <a:solidFill>
                  <a:schemeClr val="dk1"/>
                </a:solidFill>
              </a:rPr>
              <a:t>fatigue model on the left</a:t>
            </a:r>
            <a:r>
              <a:rPr lang="en">
                <a:solidFill>
                  <a:schemeClr val="dk1"/>
                </a:solidFill>
              </a:rPr>
              <a:t>, the most influential predictor was </a:t>
            </a:r>
            <a:r>
              <a:rPr b="1" lang="en">
                <a:solidFill>
                  <a:schemeClr val="dk1"/>
                </a:solidFill>
              </a:rPr>
              <a:t>sex</a:t>
            </a:r>
            <a:r>
              <a:rPr lang="en">
                <a:solidFill>
                  <a:schemeClr val="dk1"/>
                </a:solidFill>
              </a:rPr>
              <a:t>, followed by </a:t>
            </a:r>
            <a:r>
              <a:rPr b="1" lang="en">
                <a:solidFill>
                  <a:schemeClr val="dk1"/>
                </a:solidFill>
              </a:rPr>
              <a:t>mindfulness</a:t>
            </a:r>
            <a:r>
              <a:rPr lang="en">
                <a:solidFill>
                  <a:schemeClr val="dk1"/>
                </a:solidFill>
              </a:rPr>
              <a:t> and </a:t>
            </a:r>
            <a:r>
              <a:rPr b="1" lang="en">
                <a:solidFill>
                  <a:schemeClr val="dk1"/>
                </a:solidFill>
              </a:rPr>
              <a:t>subjective well-being</a:t>
            </a:r>
            <a:r>
              <a:rPr lang="en">
                <a:solidFill>
                  <a:schemeClr val="dk1"/>
                </a:solidFill>
              </a:rPr>
              <a:t>. This suggests that gender differences, emotional regulation skills, and general life satisfaction play important roles in fatigue.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On the </a:t>
            </a:r>
            <a:r>
              <a:rPr b="1" lang="en">
                <a:solidFill>
                  <a:schemeClr val="dk1"/>
                </a:solidFill>
              </a:rPr>
              <a:t>right side</a:t>
            </a:r>
            <a:r>
              <a:rPr lang="en">
                <a:solidFill>
                  <a:schemeClr val="dk1"/>
                </a:solidFill>
              </a:rPr>
              <a:t>, the model for </a:t>
            </a:r>
            <a:r>
              <a:rPr b="1" lang="en">
                <a:solidFill>
                  <a:schemeClr val="dk1"/>
                </a:solidFill>
              </a:rPr>
              <a:t>trouble sleeping</a:t>
            </a:r>
            <a:r>
              <a:rPr lang="en">
                <a:solidFill>
                  <a:schemeClr val="dk1"/>
                </a:solidFill>
              </a:rPr>
              <a:t>, has a totally different pattern.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strongest predictor is </a:t>
            </a:r>
            <a:r>
              <a:rPr b="1" lang="en">
                <a:solidFill>
                  <a:schemeClr val="dk1"/>
                </a:solidFill>
              </a:rPr>
              <a:t>efficacy or competence</a:t>
            </a:r>
            <a:r>
              <a:rPr lang="en">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indicates that people’s sense of capability and control over their lives is strongly associated with sleep problems. Need to belong, perceived social support, and disability identity also appear high on the list. This highlights symptom-specific differences.</a:t>
            </a:r>
            <a:endParaRPr>
              <a:solidFill>
                <a:schemeClr val="dk1"/>
              </a:solidFill>
            </a:endParaRPr>
          </a:p>
          <a:p>
            <a:pPr indent="0" lvl="0" marL="0" rtl="0" algn="l">
              <a:spcBef>
                <a:spcPts val="0"/>
              </a:spcBef>
              <a:spcAft>
                <a:spcPts val="0"/>
              </a:spcAft>
              <a:buNone/>
            </a:pPr>
            <a:r>
              <a:t/>
            </a:r>
            <a:endParaRPr b="1"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reinforces one of our major findings—that each somatic symptom has its own distinct psychological profile rather than sharing a single universal set of predictors.</a:t>
            </a:r>
            <a:endParaRPr>
              <a:solidFill>
                <a:schemeClr val="dk1"/>
              </a:solidFill>
            </a:endParaRPr>
          </a:p>
          <a:p>
            <a:pPr indent="0" lvl="0" marL="0" rtl="0" algn="l">
              <a:spcBef>
                <a:spcPts val="0"/>
              </a:spcBef>
              <a:spcAft>
                <a:spcPts val="0"/>
              </a:spcAft>
              <a:buNone/>
            </a:pPr>
            <a:r>
              <a:t/>
            </a:r>
            <a:endParaRPr b="1" sz="1300">
              <a:solidFill>
                <a:schemeClr val="dk1"/>
              </a:solidFill>
            </a:endParaRPr>
          </a:p>
        </p:txBody>
      </p:sp>
      <p:sp>
        <p:nvSpPr>
          <p:cNvPr id="456" name="Google Shape;456;g37611d23b4f_1_2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7611d23b4f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t>Putting everything together, our results show that not all somatic symptoms behave the same way. Some symptoms—like fatigue, sleep problems, headache, and dizziness—were much more strongly influenced by psychosocial factors, such as stress, identity-related traits, interpersonal functioning, and subjective well-being. In contrast, symptoms like chest pain and shortness of breath showed much weaker psychological associations, which aligns with prior literature emphasizing stronger physiological pathways for those symptoms. So one major takeaway is that somatic symptoms are not a single category; they each have their own predictive signatures.</a:t>
            </a:r>
            <a:endParaRPr sz="1300"/>
          </a:p>
          <a:p>
            <a:pPr indent="0" lvl="0" marL="0" rtl="0" algn="l">
              <a:lnSpc>
                <a:spcPct val="115000"/>
              </a:lnSpc>
              <a:spcBef>
                <a:spcPts val="1200"/>
              </a:spcBef>
              <a:spcAft>
                <a:spcPts val="0"/>
              </a:spcAft>
              <a:buClr>
                <a:schemeClr val="dk1"/>
              </a:buClr>
              <a:buSzPts val="1100"/>
              <a:buFont typeface="Arial"/>
              <a:buNone/>
            </a:pPr>
            <a:r>
              <a:rPr lang="en" sz="1300"/>
              <a:t>Of course, there are limitations. Our dataset only includes young adults, so we can’t generalize to older or clinical populations. We also rely on self-reported PHQ-15 items without any medical verification, and some symptoms, like fainting spells, were relatively rare, which affects model performance.</a:t>
            </a:r>
            <a:endParaRPr sz="1300"/>
          </a:p>
          <a:p>
            <a:pPr indent="0" lvl="0" marL="0" rtl="0" algn="l">
              <a:spcBef>
                <a:spcPts val="1200"/>
              </a:spcBef>
              <a:spcAft>
                <a:spcPts val="0"/>
              </a:spcAft>
              <a:buNone/>
            </a:pPr>
            <a:r>
              <a:t/>
            </a:r>
            <a:endParaRPr/>
          </a:p>
        </p:txBody>
      </p:sp>
      <p:sp>
        <p:nvSpPr>
          <p:cNvPr id="472" name="Google Shape;472;g37611d23b4f_1_2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761106dda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1300"/>
              <a:t>our next steps are to expand our analysis to additional somatic symptoms and incorporate more psychopathology-related predictors, such as anxiety or depression symptoms. We also recently identified a large, nationally representative dataset called Add Health. We plan to test our current models on this dataset to see whether the findings generalize to a broader population. Ultimately, our goal is to build a more generalized and robust prediction framework that works consistently across datasets and symptoms.</a:t>
            </a:r>
            <a:endParaRPr sz="1300"/>
          </a:p>
        </p:txBody>
      </p:sp>
      <p:sp>
        <p:nvSpPr>
          <p:cNvPr id="490" name="Google Shape;490;g3761106dda8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7611d23b4f_1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g37611d23b4f_1_2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128" name="Shape 128"/>
        <p:cNvGrpSpPr/>
        <p:nvPr/>
      </p:nvGrpSpPr>
      <p:grpSpPr>
        <a:xfrm>
          <a:off x="0" y="0"/>
          <a:ext cx="0" cy="0"/>
          <a:chOff x="0" y="0"/>
          <a:chExt cx="0" cy="0"/>
        </a:xfrm>
      </p:grpSpPr>
      <p:grpSp>
        <p:nvGrpSpPr>
          <p:cNvPr id="129" name="Google Shape;129;p25"/>
          <p:cNvGrpSpPr/>
          <p:nvPr/>
        </p:nvGrpSpPr>
        <p:grpSpPr>
          <a:xfrm>
            <a:off x="514350" y="423937"/>
            <a:ext cx="8115300" cy="4205213"/>
            <a:chOff x="0" y="-47625"/>
            <a:chExt cx="4274726" cy="2215092"/>
          </a:xfrm>
        </p:grpSpPr>
        <p:sp>
          <p:nvSpPr>
            <p:cNvPr id="130" name="Google Shape;130;p25"/>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131" name="Google Shape;131;p25"/>
            <p:cNvSpPr txBox="1"/>
            <p:nvPr/>
          </p:nvSpPr>
          <p:spPr>
            <a:xfrm>
              <a:off x="0" y="-47625"/>
              <a:ext cx="4274726"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2" name="Google Shape;132;p25"/>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133" name="Google Shape;133;p25"/>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134" name="Google Shape;134;p25"/>
          <p:cNvGrpSpPr/>
          <p:nvPr/>
        </p:nvGrpSpPr>
        <p:grpSpPr>
          <a:xfrm>
            <a:off x="1648979" y="4353158"/>
            <a:ext cx="5846044" cy="5846043"/>
            <a:chOff x="0" y="0"/>
            <a:chExt cx="812800" cy="812800"/>
          </a:xfrm>
        </p:grpSpPr>
        <p:sp>
          <p:nvSpPr>
            <p:cNvPr id="135" name="Google Shape;135;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6" name="Google Shape;136;p25"/>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7" name="Google Shape;137;p25"/>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38" name="Google Shape;138;p25"/>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39" name="Google Shape;139;p25"/>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40" name="Google Shape;140;p25"/>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41" name="Google Shape;141;p25"/>
          <p:cNvSpPr txBox="1"/>
          <p:nvPr/>
        </p:nvSpPr>
        <p:spPr>
          <a:xfrm>
            <a:off x="1766287" y="3049860"/>
            <a:ext cx="58461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2200" u="none" cap="none" strike="noStrike">
                <a:solidFill>
                  <a:srgbClr val="122857"/>
                </a:solidFill>
                <a:latin typeface="Arial"/>
                <a:ea typeface="Arial"/>
                <a:cs typeface="Arial"/>
                <a:sym typeface="Arial"/>
              </a:rPr>
              <a:t>Presented by </a:t>
            </a:r>
            <a:r>
              <a:rPr lang="en" sz="2200">
                <a:solidFill>
                  <a:srgbClr val="122857"/>
                </a:solidFill>
              </a:rPr>
              <a:t>Miao Yu &amp; Jessica Tanchone</a:t>
            </a:r>
            <a:endParaRPr sz="700"/>
          </a:p>
        </p:txBody>
      </p:sp>
      <p:sp>
        <p:nvSpPr>
          <p:cNvPr id="142" name="Google Shape;142;p25"/>
          <p:cNvSpPr txBox="1"/>
          <p:nvPr/>
        </p:nvSpPr>
        <p:spPr>
          <a:xfrm>
            <a:off x="1158860" y="1754952"/>
            <a:ext cx="6827400" cy="1219200"/>
          </a:xfrm>
          <a:prstGeom prst="rect">
            <a:avLst/>
          </a:prstGeom>
          <a:noFill/>
          <a:ln>
            <a:noFill/>
          </a:ln>
        </p:spPr>
        <p:txBody>
          <a:bodyPr anchorCtr="0" anchor="t" bIns="0" lIns="0" spcFirstLastPara="1" rIns="0" wrap="square" tIns="0">
            <a:spAutoFit/>
          </a:bodyPr>
          <a:lstStyle/>
          <a:p>
            <a:pPr indent="0" lvl="0" marL="0" marR="0" rtl="0" algn="ctr">
              <a:lnSpc>
                <a:spcPct val="79998"/>
              </a:lnSpc>
              <a:spcBef>
                <a:spcPts val="0"/>
              </a:spcBef>
              <a:spcAft>
                <a:spcPts val="0"/>
              </a:spcAft>
              <a:buNone/>
            </a:pPr>
            <a:r>
              <a:rPr b="1" lang="en" sz="9900">
                <a:solidFill>
                  <a:srgbClr val="122857"/>
                </a:solidFill>
                <a:latin typeface="Sura"/>
                <a:ea typeface="Sura"/>
                <a:cs typeface="Sura"/>
                <a:sym typeface="Sura"/>
              </a:rPr>
              <a:t>Capstone</a:t>
            </a:r>
            <a:endParaRPr sz="700"/>
          </a:p>
        </p:txBody>
      </p:sp>
      <p:sp>
        <p:nvSpPr>
          <p:cNvPr id="143" name="Google Shape;143;p25"/>
          <p:cNvSpPr txBox="1"/>
          <p:nvPr/>
        </p:nvSpPr>
        <p:spPr>
          <a:xfrm>
            <a:off x="1412300" y="833950"/>
            <a:ext cx="5496600" cy="431100"/>
          </a:xfrm>
          <a:prstGeom prst="rect">
            <a:avLst/>
          </a:prstGeom>
          <a:noFill/>
          <a:ln>
            <a:noFill/>
          </a:ln>
        </p:spPr>
        <p:txBody>
          <a:bodyPr anchorCtr="0" anchor="ctr" bIns="91425" lIns="91425" spcFirstLastPara="1" rIns="91425" wrap="square" tIns="91425">
            <a:spAutoFit/>
          </a:bodyPr>
          <a:lstStyle/>
          <a:p>
            <a:pPr indent="0" lvl="0" marL="0" rtl="0" algn="ctr">
              <a:lnSpc>
                <a:spcPct val="80001"/>
              </a:lnSpc>
              <a:spcBef>
                <a:spcPts val="0"/>
              </a:spcBef>
              <a:spcAft>
                <a:spcPts val="0"/>
              </a:spcAft>
              <a:buClr>
                <a:schemeClr val="dk1"/>
              </a:buClr>
              <a:buFont typeface="Arial"/>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147" name="Shape 147"/>
        <p:cNvGrpSpPr/>
        <p:nvPr/>
      </p:nvGrpSpPr>
      <p:grpSpPr>
        <a:xfrm>
          <a:off x="0" y="0"/>
          <a:ext cx="0" cy="0"/>
          <a:chOff x="0" y="0"/>
          <a:chExt cx="0" cy="0"/>
        </a:xfrm>
      </p:grpSpPr>
      <p:grpSp>
        <p:nvGrpSpPr>
          <p:cNvPr id="148" name="Google Shape;148;p26"/>
          <p:cNvGrpSpPr/>
          <p:nvPr/>
        </p:nvGrpSpPr>
        <p:grpSpPr>
          <a:xfrm>
            <a:off x="514350" y="423939"/>
            <a:ext cx="8115140" cy="4205336"/>
            <a:chOff x="0" y="-47625"/>
            <a:chExt cx="4274726" cy="2215200"/>
          </a:xfrm>
        </p:grpSpPr>
        <p:sp>
          <p:nvSpPr>
            <p:cNvPr id="149" name="Google Shape;149;p26"/>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150" name="Google Shape;150;p26"/>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1" name="Google Shape;151;p26"/>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152" name="Google Shape;152;p26"/>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153" name="Google Shape;153;p26"/>
          <p:cNvGrpSpPr/>
          <p:nvPr/>
        </p:nvGrpSpPr>
        <p:grpSpPr>
          <a:xfrm>
            <a:off x="1648978" y="4353158"/>
            <a:ext cx="5846064" cy="5846064"/>
            <a:chOff x="0" y="0"/>
            <a:chExt cx="812800" cy="812800"/>
          </a:xfrm>
        </p:grpSpPr>
        <p:sp>
          <p:nvSpPr>
            <p:cNvPr id="154" name="Google Shape;154;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 name="Google Shape;155;p26"/>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6" name="Google Shape;156;p26"/>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57" name="Google Shape;157;p26"/>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58" name="Google Shape;158;p26"/>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59" name="Google Shape;159;p26"/>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60" name="Google Shape;160;p26"/>
          <p:cNvSpPr txBox="1"/>
          <p:nvPr/>
        </p:nvSpPr>
        <p:spPr>
          <a:xfrm>
            <a:off x="1230863" y="1709850"/>
            <a:ext cx="6683400" cy="1723800"/>
          </a:xfrm>
          <a:prstGeom prst="rect">
            <a:avLst/>
          </a:prstGeom>
          <a:noFill/>
          <a:ln>
            <a:noFill/>
          </a:ln>
        </p:spPr>
        <p:txBody>
          <a:bodyPr anchorCtr="0" anchor="t" bIns="0" lIns="0" spcFirstLastPara="1" rIns="0" wrap="square" tIns="0">
            <a:spAutoFit/>
          </a:bodyPr>
          <a:lstStyle/>
          <a:p>
            <a:pPr indent="0" lvl="0" marL="0" rtl="0" algn="ctr">
              <a:lnSpc>
                <a:spcPct val="150000"/>
              </a:lnSpc>
              <a:spcBef>
                <a:spcPts val="0"/>
              </a:spcBef>
              <a:spcAft>
                <a:spcPts val="0"/>
              </a:spcAft>
              <a:buClr>
                <a:schemeClr val="dk1"/>
              </a:buClr>
              <a:buSzPts val="1100"/>
              <a:buFont typeface="Arial"/>
              <a:buNone/>
            </a:pPr>
            <a:r>
              <a:rPr b="1" lang="en" sz="2800">
                <a:solidFill>
                  <a:schemeClr val="dk2"/>
                </a:solidFill>
                <a:latin typeface="Sura"/>
                <a:ea typeface="Sura"/>
                <a:cs typeface="Sura"/>
                <a:sym typeface="Sura"/>
              </a:rPr>
              <a:t>A Machine Learning Analysis of Risk Factors for Somatic Symptoms in the PHQ-15 Among Young Adults</a:t>
            </a:r>
            <a:endParaRPr b="1" sz="2800">
              <a:solidFill>
                <a:schemeClr val="dk2"/>
              </a:solidFill>
              <a:latin typeface="Sura"/>
              <a:ea typeface="Sura"/>
              <a:cs typeface="Sura"/>
              <a:sym typeface="Sura"/>
            </a:endParaRPr>
          </a:p>
        </p:txBody>
      </p:sp>
      <p:sp>
        <p:nvSpPr>
          <p:cNvPr id="161" name="Google Shape;161;p26"/>
          <p:cNvSpPr txBox="1"/>
          <p:nvPr/>
        </p:nvSpPr>
        <p:spPr>
          <a:xfrm>
            <a:off x="1412300" y="833950"/>
            <a:ext cx="5496600" cy="431100"/>
          </a:xfrm>
          <a:prstGeom prst="rect">
            <a:avLst/>
          </a:prstGeom>
          <a:noFill/>
          <a:ln>
            <a:noFill/>
          </a:ln>
        </p:spPr>
        <p:txBody>
          <a:bodyPr anchorCtr="0" anchor="ctr" bIns="91425" lIns="91425" spcFirstLastPara="1" rIns="91425" wrap="square" tIns="91425">
            <a:spAutoFit/>
          </a:bodyPr>
          <a:lstStyle/>
          <a:p>
            <a:pPr indent="0" lvl="0" marL="0" rtl="0" algn="ctr">
              <a:lnSpc>
                <a:spcPct val="80001"/>
              </a:lnSpc>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165" name="Shape 165"/>
        <p:cNvGrpSpPr/>
        <p:nvPr/>
      </p:nvGrpSpPr>
      <p:grpSpPr>
        <a:xfrm>
          <a:off x="0" y="0"/>
          <a:ext cx="0" cy="0"/>
          <a:chOff x="0" y="0"/>
          <a:chExt cx="0" cy="0"/>
        </a:xfrm>
      </p:grpSpPr>
      <p:grpSp>
        <p:nvGrpSpPr>
          <p:cNvPr id="166" name="Google Shape;166;p27"/>
          <p:cNvGrpSpPr/>
          <p:nvPr/>
        </p:nvGrpSpPr>
        <p:grpSpPr>
          <a:xfrm>
            <a:off x="514350" y="423939"/>
            <a:ext cx="8115140" cy="4205336"/>
            <a:chOff x="0" y="-47625"/>
            <a:chExt cx="4274726" cy="2215200"/>
          </a:xfrm>
        </p:grpSpPr>
        <p:sp>
          <p:nvSpPr>
            <p:cNvPr id="167" name="Google Shape;167;p27"/>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168" name="Google Shape;168;p27"/>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9" name="Google Shape;169;p27"/>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170" name="Google Shape;170;p27"/>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171" name="Google Shape;171;p27"/>
          <p:cNvGrpSpPr/>
          <p:nvPr/>
        </p:nvGrpSpPr>
        <p:grpSpPr>
          <a:xfrm>
            <a:off x="1648978" y="4353158"/>
            <a:ext cx="5846064" cy="5846064"/>
            <a:chOff x="0" y="0"/>
            <a:chExt cx="812800" cy="812800"/>
          </a:xfrm>
        </p:grpSpPr>
        <p:sp>
          <p:nvSpPr>
            <p:cNvPr id="172" name="Google Shape;172;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 name="Google Shape;173;p27"/>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4" name="Google Shape;174;p27"/>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75" name="Google Shape;175;p27"/>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76" name="Google Shape;176;p27"/>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77" name="Google Shape;177;p27"/>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78" name="Google Shape;178;p27"/>
          <p:cNvSpPr txBox="1"/>
          <p:nvPr/>
        </p:nvSpPr>
        <p:spPr>
          <a:xfrm>
            <a:off x="1238998" y="1667625"/>
            <a:ext cx="2784300" cy="431100"/>
          </a:xfrm>
          <a:prstGeom prst="rect">
            <a:avLst/>
          </a:prstGeom>
          <a:noFill/>
          <a:ln>
            <a:noFill/>
          </a:ln>
        </p:spPr>
        <p:txBody>
          <a:bodyPr anchorCtr="0" anchor="t" bIns="0" lIns="0" spcFirstLastPara="1" rIns="0" wrap="square" tIns="0">
            <a:spAutoFit/>
          </a:bodyPr>
          <a:lstStyle/>
          <a:p>
            <a:pPr indent="0" lvl="0" marL="0" rtl="0" algn="ctr">
              <a:lnSpc>
                <a:spcPct val="150000"/>
              </a:lnSpc>
              <a:spcBef>
                <a:spcPts val="0"/>
              </a:spcBef>
              <a:spcAft>
                <a:spcPts val="0"/>
              </a:spcAft>
              <a:buClr>
                <a:schemeClr val="dk1"/>
              </a:buClr>
              <a:buSzPts val="1100"/>
              <a:buFont typeface="Arial"/>
              <a:buNone/>
            </a:pPr>
            <a:r>
              <a:rPr b="1" lang="en" sz="2800">
                <a:solidFill>
                  <a:schemeClr val="dk2"/>
                </a:solidFill>
                <a:latin typeface="Sura"/>
                <a:ea typeface="Sura"/>
                <a:cs typeface="Sura"/>
                <a:sym typeface="Sura"/>
              </a:rPr>
              <a:t>10% Adults </a:t>
            </a:r>
            <a:endParaRPr b="1" sz="2800">
              <a:solidFill>
                <a:schemeClr val="dk2"/>
              </a:solidFill>
              <a:latin typeface="Sura"/>
              <a:ea typeface="Sura"/>
              <a:cs typeface="Sura"/>
              <a:sym typeface="Sura"/>
            </a:endParaRPr>
          </a:p>
        </p:txBody>
      </p:sp>
      <p:sp>
        <p:nvSpPr>
          <p:cNvPr id="179" name="Google Shape;179;p27"/>
          <p:cNvSpPr txBox="1"/>
          <p:nvPr/>
        </p:nvSpPr>
        <p:spPr>
          <a:xfrm>
            <a:off x="3733975" y="2536088"/>
            <a:ext cx="4631100" cy="431100"/>
          </a:xfrm>
          <a:prstGeom prst="rect">
            <a:avLst/>
          </a:prstGeom>
          <a:noFill/>
          <a:ln>
            <a:noFill/>
          </a:ln>
        </p:spPr>
        <p:txBody>
          <a:bodyPr anchorCtr="0" anchor="t" bIns="0" lIns="0" spcFirstLastPara="1" rIns="0" wrap="square" tIns="0">
            <a:spAutoFit/>
          </a:bodyPr>
          <a:lstStyle/>
          <a:p>
            <a:pPr indent="0" lvl="0" marL="0" rtl="0" algn="ctr">
              <a:lnSpc>
                <a:spcPct val="150000"/>
              </a:lnSpc>
              <a:spcBef>
                <a:spcPts val="0"/>
              </a:spcBef>
              <a:spcAft>
                <a:spcPts val="0"/>
              </a:spcAft>
              <a:buClr>
                <a:schemeClr val="dk1"/>
              </a:buClr>
              <a:buSzPts val="1100"/>
              <a:buFont typeface="Arial"/>
              <a:buNone/>
            </a:pPr>
            <a:r>
              <a:rPr b="1" lang="en" sz="2800">
                <a:solidFill>
                  <a:schemeClr val="dk2"/>
                </a:solidFill>
                <a:latin typeface="Sura"/>
                <a:ea typeface="Sura"/>
                <a:cs typeface="Sura"/>
                <a:sym typeface="Sura"/>
              </a:rPr>
              <a:t>20%-45% primary care visits</a:t>
            </a:r>
            <a:endParaRPr b="1" sz="2800">
              <a:solidFill>
                <a:schemeClr val="dk2"/>
              </a:solidFill>
              <a:latin typeface="Sura"/>
              <a:ea typeface="Sura"/>
              <a:cs typeface="Sura"/>
              <a:sym typeface="Sura"/>
            </a:endParaRPr>
          </a:p>
        </p:txBody>
      </p:sp>
      <p:sp>
        <p:nvSpPr>
          <p:cNvPr id="180" name="Google Shape;180;p27"/>
          <p:cNvSpPr txBox="1"/>
          <p:nvPr/>
        </p:nvSpPr>
        <p:spPr>
          <a:xfrm>
            <a:off x="1648976" y="3404575"/>
            <a:ext cx="3850200" cy="431100"/>
          </a:xfrm>
          <a:prstGeom prst="rect">
            <a:avLst/>
          </a:prstGeom>
          <a:noFill/>
          <a:ln>
            <a:noFill/>
          </a:ln>
        </p:spPr>
        <p:txBody>
          <a:bodyPr anchorCtr="0" anchor="t" bIns="0" lIns="0" spcFirstLastPara="1" rIns="0" wrap="square" tIns="0">
            <a:spAutoFit/>
          </a:bodyPr>
          <a:lstStyle/>
          <a:p>
            <a:pPr indent="0" lvl="0" marL="0" rtl="0" algn="ctr">
              <a:lnSpc>
                <a:spcPct val="150000"/>
              </a:lnSpc>
              <a:spcBef>
                <a:spcPts val="0"/>
              </a:spcBef>
              <a:spcAft>
                <a:spcPts val="0"/>
              </a:spcAft>
              <a:buClr>
                <a:schemeClr val="dk1"/>
              </a:buClr>
              <a:buSzPts val="1100"/>
              <a:buFont typeface="Arial"/>
              <a:buNone/>
            </a:pPr>
            <a:r>
              <a:rPr b="1" lang="en" sz="2800">
                <a:solidFill>
                  <a:schemeClr val="dk2"/>
                </a:solidFill>
                <a:latin typeface="Sura"/>
                <a:ea typeface="Sura"/>
                <a:cs typeface="Sura"/>
                <a:sym typeface="Sura"/>
              </a:rPr>
              <a:t>69% Depressed Patient</a:t>
            </a:r>
            <a:endParaRPr b="1" sz="2800">
              <a:solidFill>
                <a:schemeClr val="dk2"/>
              </a:solidFill>
              <a:latin typeface="Sura"/>
              <a:ea typeface="Sura"/>
              <a:cs typeface="Sura"/>
              <a:sym typeface="Sura"/>
            </a:endParaRPr>
          </a:p>
        </p:txBody>
      </p:sp>
      <p:sp>
        <p:nvSpPr>
          <p:cNvPr id="181" name="Google Shape;181;p27"/>
          <p:cNvSpPr txBox="1"/>
          <p:nvPr/>
        </p:nvSpPr>
        <p:spPr>
          <a:xfrm>
            <a:off x="1435675" y="523025"/>
            <a:ext cx="6025500" cy="12066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t/>
            </a:r>
            <a:endParaRPr sz="2500">
              <a:solidFill>
                <a:srgbClr val="203842"/>
              </a:solidFill>
              <a:latin typeface="Sura"/>
              <a:ea typeface="Sura"/>
              <a:cs typeface="Sura"/>
              <a:sym typeface="Sura"/>
            </a:endParaRPr>
          </a:p>
          <a:p>
            <a:pPr indent="0" lvl="0" marL="0" rtl="0" algn="ctr">
              <a:lnSpc>
                <a:spcPct val="79991"/>
              </a:lnSpc>
              <a:spcBef>
                <a:spcPts val="0"/>
              </a:spcBef>
              <a:spcAft>
                <a:spcPts val="0"/>
              </a:spcAft>
              <a:buClr>
                <a:schemeClr val="dk1"/>
              </a:buClr>
              <a:buFont typeface="Arial"/>
              <a:buNone/>
            </a:pPr>
            <a:r>
              <a:rPr b="1" lang="en" sz="4800">
                <a:solidFill>
                  <a:srgbClr val="122857"/>
                </a:solidFill>
                <a:latin typeface="Sura"/>
                <a:ea typeface="Sura"/>
                <a:cs typeface="Sura"/>
                <a:sym typeface="Sura"/>
              </a:rPr>
              <a:t>Background</a:t>
            </a:r>
            <a:endParaRPr sz="700"/>
          </a:p>
          <a:p>
            <a:pPr indent="0" lvl="0" marL="0" marR="0" rtl="0" algn="l">
              <a:lnSpc>
                <a:spcPct val="79991"/>
              </a:lnSpc>
              <a:spcBef>
                <a:spcPts val="0"/>
              </a:spcBef>
              <a:spcAft>
                <a:spcPts val="0"/>
              </a:spcAft>
              <a:buNone/>
            </a:pPr>
            <a:r>
              <a:t/>
            </a:r>
            <a:endParaRPr sz="2500">
              <a:solidFill>
                <a:srgbClr val="203842"/>
              </a:solidFill>
              <a:latin typeface="Sura"/>
              <a:ea typeface="Sura"/>
              <a:cs typeface="Sura"/>
              <a:sym typeface="Su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1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4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185" name="Shape 185"/>
        <p:cNvGrpSpPr/>
        <p:nvPr/>
      </p:nvGrpSpPr>
      <p:grpSpPr>
        <a:xfrm>
          <a:off x="0" y="0"/>
          <a:ext cx="0" cy="0"/>
          <a:chOff x="0" y="0"/>
          <a:chExt cx="0" cy="0"/>
        </a:xfrm>
      </p:grpSpPr>
      <p:grpSp>
        <p:nvGrpSpPr>
          <p:cNvPr id="186" name="Google Shape;186;p28"/>
          <p:cNvGrpSpPr/>
          <p:nvPr/>
        </p:nvGrpSpPr>
        <p:grpSpPr>
          <a:xfrm>
            <a:off x="514350" y="423939"/>
            <a:ext cx="8115140" cy="4205336"/>
            <a:chOff x="0" y="-47625"/>
            <a:chExt cx="4274726" cy="2215200"/>
          </a:xfrm>
        </p:grpSpPr>
        <p:sp>
          <p:nvSpPr>
            <p:cNvPr id="187" name="Google Shape;187;p28"/>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188" name="Google Shape;188;p28"/>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9" name="Google Shape;189;p28"/>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190" name="Google Shape;190;p28"/>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191" name="Google Shape;191;p28"/>
          <p:cNvGrpSpPr/>
          <p:nvPr/>
        </p:nvGrpSpPr>
        <p:grpSpPr>
          <a:xfrm>
            <a:off x="1648978" y="4353158"/>
            <a:ext cx="5846064" cy="5846064"/>
            <a:chOff x="0" y="0"/>
            <a:chExt cx="812800" cy="812800"/>
          </a:xfrm>
        </p:grpSpPr>
        <p:sp>
          <p:nvSpPr>
            <p:cNvPr id="192" name="Google Shape;192;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3" name="Google Shape;193;p28"/>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4" name="Google Shape;194;p28"/>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95" name="Google Shape;195;p28"/>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96" name="Google Shape;196;p28"/>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197" name="Google Shape;197;p28"/>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198" name="Google Shape;198;p28"/>
          <p:cNvSpPr txBox="1"/>
          <p:nvPr/>
        </p:nvSpPr>
        <p:spPr>
          <a:xfrm>
            <a:off x="1435675" y="523025"/>
            <a:ext cx="6025500" cy="12066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t/>
            </a:r>
            <a:endParaRPr sz="2500">
              <a:solidFill>
                <a:srgbClr val="203842"/>
              </a:solidFill>
              <a:latin typeface="Sura"/>
              <a:ea typeface="Sura"/>
              <a:cs typeface="Sura"/>
              <a:sym typeface="Sura"/>
            </a:endParaRPr>
          </a:p>
          <a:p>
            <a:pPr indent="0" lvl="0" marL="0" rtl="0" algn="ctr">
              <a:lnSpc>
                <a:spcPct val="79991"/>
              </a:lnSpc>
              <a:spcBef>
                <a:spcPts val="0"/>
              </a:spcBef>
              <a:spcAft>
                <a:spcPts val="0"/>
              </a:spcAft>
              <a:buClr>
                <a:schemeClr val="dk1"/>
              </a:buClr>
              <a:buFont typeface="Arial"/>
              <a:buNone/>
            </a:pPr>
            <a:r>
              <a:rPr b="1" lang="en" sz="4800">
                <a:solidFill>
                  <a:srgbClr val="122857"/>
                </a:solidFill>
                <a:latin typeface="Sura"/>
                <a:ea typeface="Sura"/>
                <a:cs typeface="Sura"/>
                <a:sym typeface="Sura"/>
              </a:rPr>
              <a:t>OBJECTIVE</a:t>
            </a:r>
            <a:endParaRPr sz="700"/>
          </a:p>
          <a:p>
            <a:pPr indent="0" lvl="0" marL="0" marR="0" rtl="0" algn="l">
              <a:lnSpc>
                <a:spcPct val="79991"/>
              </a:lnSpc>
              <a:spcBef>
                <a:spcPts val="0"/>
              </a:spcBef>
              <a:spcAft>
                <a:spcPts val="0"/>
              </a:spcAft>
              <a:buNone/>
            </a:pPr>
            <a:r>
              <a:t/>
            </a:r>
            <a:endParaRPr sz="2500">
              <a:solidFill>
                <a:srgbClr val="203842"/>
              </a:solidFill>
              <a:latin typeface="Sura"/>
              <a:ea typeface="Sura"/>
              <a:cs typeface="Sura"/>
              <a:sym typeface="Sura"/>
            </a:endParaRPr>
          </a:p>
        </p:txBody>
      </p:sp>
      <p:sp>
        <p:nvSpPr>
          <p:cNvPr id="199" name="Google Shape;199;p28"/>
          <p:cNvSpPr txBox="1"/>
          <p:nvPr/>
        </p:nvSpPr>
        <p:spPr>
          <a:xfrm>
            <a:off x="1160550" y="1986900"/>
            <a:ext cx="6822900" cy="1354500"/>
          </a:xfrm>
          <a:prstGeom prst="rect">
            <a:avLst/>
          </a:prstGeom>
          <a:noFill/>
          <a:ln>
            <a:noFill/>
          </a:ln>
        </p:spPr>
        <p:txBody>
          <a:bodyPr anchorCtr="0" anchor="ctr" bIns="91425" lIns="91425" spcFirstLastPara="1" rIns="91425" wrap="square" tIns="91425">
            <a:spAutoFit/>
          </a:bodyPr>
          <a:lstStyle/>
          <a:p>
            <a:pPr indent="0" lvl="0" marL="0" rtl="0" algn="ctr">
              <a:lnSpc>
                <a:spcPct val="150000"/>
              </a:lnSpc>
              <a:spcBef>
                <a:spcPts val="0"/>
              </a:spcBef>
              <a:spcAft>
                <a:spcPts val="0"/>
              </a:spcAft>
              <a:buNone/>
            </a:pPr>
            <a:r>
              <a:rPr b="1" lang="en" sz="1900">
                <a:solidFill>
                  <a:srgbClr val="052F58"/>
                </a:solidFill>
                <a:latin typeface="Sura"/>
                <a:ea typeface="Sura"/>
                <a:cs typeface="Sura"/>
                <a:sym typeface="Sura"/>
              </a:rPr>
              <a:t>Our primary goal is to build and compare symptom-specific prediction models and to identify the most influential predictors for targeted symptoms.</a:t>
            </a:r>
            <a:endParaRPr sz="1700">
              <a:solidFill>
                <a:srgbClr val="595959"/>
              </a:solidFill>
              <a:latin typeface="Sura"/>
              <a:ea typeface="Sura"/>
              <a:cs typeface="Sura"/>
              <a:sym typeface="Su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203" name="Shape 203"/>
        <p:cNvGrpSpPr/>
        <p:nvPr/>
      </p:nvGrpSpPr>
      <p:grpSpPr>
        <a:xfrm>
          <a:off x="0" y="0"/>
          <a:ext cx="0" cy="0"/>
          <a:chOff x="0" y="0"/>
          <a:chExt cx="0" cy="0"/>
        </a:xfrm>
      </p:grpSpPr>
      <p:grpSp>
        <p:nvGrpSpPr>
          <p:cNvPr id="204" name="Google Shape;204;p29"/>
          <p:cNvGrpSpPr/>
          <p:nvPr/>
        </p:nvGrpSpPr>
        <p:grpSpPr>
          <a:xfrm>
            <a:off x="514350" y="423939"/>
            <a:ext cx="8115140" cy="4205131"/>
            <a:chOff x="0" y="-47625"/>
            <a:chExt cx="4274726" cy="2215092"/>
          </a:xfrm>
        </p:grpSpPr>
        <p:sp>
          <p:nvSpPr>
            <p:cNvPr id="205" name="Google Shape;205;p29"/>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206" name="Google Shape;206;p29"/>
            <p:cNvSpPr txBox="1"/>
            <p:nvPr/>
          </p:nvSpPr>
          <p:spPr>
            <a:xfrm>
              <a:off x="0" y="-47625"/>
              <a:ext cx="4274726"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7" name="Google Shape;207;p29"/>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208" name="Google Shape;208;p29"/>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209" name="Google Shape;209;p29"/>
          <p:cNvGrpSpPr/>
          <p:nvPr/>
        </p:nvGrpSpPr>
        <p:grpSpPr>
          <a:xfrm>
            <a:off x="1648979" y="4353158"/>
            <a:ext cx="5846044" cy="5846043"/>
            <a:chOff x="0" y="0"/>
            <a:chExt cx="812800" cy="812800"/>
          </a:xfrm>
        </p:grpSpPr>
        <p:sp>
          <p:nvSpPr>
            <p:cNvPr id="210" name="Google Shape;210;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1" name="Google Shape;211;p2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12" name="Google Shape;212;p29"/>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13" name="Google Shape;213;p29"/>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14" name="Google Shape;214;p29"/>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15" name="Google Shape;215;p29"/>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16" name="Google Shape;216;p29"/>
          <p:cNvSpPr txBox="1"/>
          <p:nvPr/>
        </p:nvSpPr>
        <p:spPr>
          <a:xfrm>
            <a:off x="1730746" y="3096770"/>
            <a:ext cx="5682600" cy="107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t/>
            </a:r>
            <a:endParaRPr sz="700"/>
          </a:p>
        </p:txBody>
      </p:sp>
      <p:sp>
        <p:nvSpPr>
          <p:cNvPr id="217" name="Google Shape;217;p29"/>
          <p:cNvSpPr txBox="1"/>
          <p:nvPr/>
        </p:nvSpPr>
        <p:spPr>
          <a:xfrm>
            <a:off x="1389475" y="1711175"/>
            <a:ext cx="6143100" cy="2770500"/>
          </a:xfrm>
          <a:prstGeom prst="rect">
            <a:avLst/>
          </a:prstGeom>
          <a:noFill/>
          <a:ln>
            <a:noFill/>
          </a:ln>
        </p:spPr>
        <p:txBody>
          <a:bodyPr anchorCtr="0" anchor="t" bIns="0" lIns="0" spcFirstLastPara="1" rIns="0" wrap="square" tIns="0">
            <a:spAutoFit/>
          </a:bodyPr>
          <a:lstStyle/>
          <a:p>
            <a:pPr indent="-317500" lvl="0" marL="457200" marR="0" rtl="0" algn="just">
              <a:lnSpc>
                <a:spcPct val="150000"/>
              </a:lnSpc>
              <a:spcBef>
                <a:spcPts val="0"/>
              </a:spcBef>
              <a:spcAft>
                <a:spcPts val="0"/>
              </a:spcAft>
              <a:buClr>
                <a:schemeClr val="dk2"/>
              </a:buClr>
              <a:buSzPts val="1400"/>
              <a:buFont typeface="Montserrat"/>
              <a:buChar char="●"/>
            </a:pPr>
            <a:r>
              <a:rPr lang="en">
                <a:solidFill>
                  <a:schemeClr val="dk2"/>
                </a:solidFill>
                <a:latin typeface="Montserrat"/>
                <a:ea typeface="Montserrat"/>
                <a:cs typeface="Montserrat"/>
                <a:sym typeface="Montserrat"/>
              </a:rPr>
              <a:t>Somatic symptoms = physical sensations or complaints that are not primarily caused by a medical condition</a:t>
            </a:r>
            <a:endParaRPr>
              <a:solidFill>
                <a:schemeClr val="dk2"/>
              </a:solidFill>
              <a:latin typeface="Montserrat"/>
              <a:ea typeface="Montserrat"/>
              <a:cs typeface="Montserrat"/>
              <a:sym typeface="Montserrat"/>
            </a:endParaRPr>
          </a:p>
          <a:p>
            <a:pPr indent="-317500" lvl="0" marL="457200" marR="0" rtl="0" algn="just">
              <a:lnSpc>
                <a:spcPct val="150000"/>
              </a:lnSpc>
              <a:spcBef>
                <a:spcPts val="0"/>
              </a:spcBef>
              <a:spcAft>
                <a:spcPts val="0"/>
              </a:spcAft>
              <a:buClr>
                <a:schemeClr val="dk2"/>
              </a:buClr>
              <a:buSzPts val="1400"/>
              <a:buFont typeface="Montserrat"/>
              <a:buChar char="●"/>
            </a:pPr>
            <a:r>
              <a:rPr lang="en">
                <a:solidFill>
                  <a:schemeClr val="dk2"/>
                </a:solidFill>
                <a:latin typeface="Montserrat"/>
                <a:ea typeface="Montserrat"/>
                <a:cs typeface="Montserrat"/>
                <a:sym typeface="Montserrat"/>
              </a:rPr>
              <a:t>Often linked to stress, identity, and social factors</a:t>
            </a:r>
            <a:endParaRPr>
              <a:solidFill>
                <a:schemeClr val="dk2"/>
              </a:solidFill>
              <a:latin typeface="Montserrat"/>
              <a:ea typeface="Montserrat"/>
              <a:cs typeface="Montserrat"/>
              <a:sym typeface="Montserrat"/>
            </a:endParaRPr>
          </a:p>
          <a:p>
            <a:pPr indent="-317500" lvl="0" marL="457200" marR="0" rtl="0" algn="just">
              <a:lnSpc>
                <a:spcPct val="150000"/>
              </a:lnSpc>
              <a:spcBef>
                <a:spcPts val="0"/>
              </a:spcBef>
              <a:spcAft>
                <a:spcPts val="0"/>
              </a:spcAft>
              <a:buClr>
                <a:schemeClr val="dk2"/>
              </a:buClr>
              <a:buSzPts val="1400"/>
              <a:buFont typeface="Montserrat"/>
              <a:buChar char="●"/>
            </a:pPr>
            <a:r>
              <a:rPr lang="en">
                <a:solidFill>
                  <a:schemeClr val="dk2"/>
                </a:solidFill>
                <a:latin typeface="Montserrat"/>
                <a:ea typeface="Montserrat"/>
                <a:cs typeface="Montserrat"/>
                <a:sym typeface="Montserrat"/>
              </a:rPr>
              <a:t>Understudied in non-clinical young adult samples</a:t>
            </a:r>
            <a:endParaRPr>
              <a:solidFill>
                <a:schemeClr val="dk2"/>
              </a:solidFill>
              <a:latin typeface="Montserrat"/>
              <a:ea typeface="Montserrat"/>
              <a:cs typeface="Montserrat"/>
              <a:sym typeface="Montserrat"/>
            </a:endParaRPr>
          </a:p>
          <a:p>
            <a:pPr indent="-317500" lvl="0" marL="457200" marR="0" rtl="0" algn="just">
              <a:lnSpc>
                <a:spcPct val="150000"/>
              </a:lnSpc>
              <a:spcBef>
                <a:spcPts val="0"/>
              </a:spcBef>
              <a:spcAft>
                <a:spcPts val="0"/>
              </a:spcAft>
              <a:buClr>
                <a:schemeClr val="dk2"/>
              </a:buClr>
              <a:buSzPts val="1400"/>
              <a:buFont typeface="Montserrat"/>
              <a:buChar char="●"/>
            </a:pPr>
            <a:r>
              <a:rPr lang="en">
                <a:solidFill>
                  <a:schemeClr val="dk2"/>
                </a:solidFill>
                <a:latin typeface="Montserrat"/>
                <a:ea typeface="Montserrat"/>
                <a:cs typeface="Montserrat"/>
                <a:sym typeface="Montserrat"/>
              </a:rPr>
              <a:t>Early detection can guide prevention &amp; care</a:t>
            </a:r>
            <a:endParaRPr>
              <a:solidFill>
                <a:schemeClr val="dk2"/>
              </a:solidFill>
              <a:latin typeface="Montserrat"/>
              <a:ea typeface="Montserrat"/>
              <a:cs typeface="Montserrat"/>
              <a:sym typeface="Montserrat"/>
            </a:endParaRPr>
          </a:p>
          <a:p>
            <a:pPr indent="0" lvl="0" marL="0" marR="0" rtl="0" algn="just">
              <a:lnSpc>
                <a:spcPct val="150000"/>
              </a:lnSpc>
              <a:spcBef>
                <a:spcPts val="0"/>
              </a:spcBef>
              <a:spcAft>
                <a:spcPts val="0"/>
              </a:spcAft>
              <a:buNone/>
            </a:pPr>
            <a:r>
              <a:t/>
            </a:r>
            <a:endParaRPr>
              <a:solidFill>
                <a:schemeClr val="dk2"/>
              </a:solidFill>
              <a:latin typeface="Montserrat"/>
              <a:ea typeface="Montserrat"/>
              <a:cs typeface="Montserrat"/>
              <a:sym typeface="Montserrat"/>
            </a:endParaRPr>
          </a:p>
          <a:p>
            <a:pPr indent="-317500" lvl="0" marL="457200" rtl="0" algn="just">
              <a:lnSpc>
                <a:spcPct val="150000"/>
              </a:lnSpc>
              <a:spcBef>
                <a:spcPts val="0"/>
              </a:spcBef>
              <a:spcAft>
                <a:spcPts val="0"/>
              </a:spcAft>
              <a:buClr>
                <a:schemeClr val="dk2"/>
              </a:buClr>
              <a:buSzPts val="1400"/>
              <a:buFont typeface="Montserrat"/>
              <a:buChar char="●"/>
            </a:pPr>
            <a:r>
              <a:rPr lang="en">
                <a:solidFill>
                  <a:schemeClr val="dk2"/>
                </a:solidFill>
                <a:latin typeface="Montserrat"/>
                <a:ea typeface="Montserrat"/>
                <a:cs typeface="Montserrat"/>
                <a:sym typeface="Montserrat"/>
              </a:rPr>
              <a:t>Somatic Symptoms Prevalence in general population</a:t>
            </a:r>
            <a:endParaRPr>
              <a:solidFill>
                <a:schemeClr val="dk2"/>
              </a:solidFill>
              <a:latin typeface="Montserrat"/>
              <a:ea typeface="Montserrat"/>
              <a:cs typeface="Montserrat"/>
              <a:sym typeface="Montserrat"/>
            </a:endParaRPr>
          </a:p>
          <a:p>
            <a:pPr indent="-317500" lvl="0" marL="457200" rtl="0" algn="just">
              <a:lnSpc>
                <a:spcPct val="150000"/>
              </a:lnSpc>
              <a:spcBef>
                <a:spcPts val="0"/>
              </a:spcBef>
              <a:spcAft>
                <a:spcPts val="0"/>
              </a:spcAft>
              <a:buClr>
                <a:schemeClr val="dk2"/>
              </a:buClr>
              <a:buSzPts val="1400"/>
              <a:buFont typeface="Montserrat"/>
              <a:buChar char="●"/>
            </a:pPr>
            <a:r>
              <a:rPr lang="en">
                <a:solidFill>
                  <a:schemeClr val="dk2"/>
                </a:solidFill>
                <a:latin typeface="Montserrat"/>
                <a:ea typeface="Montserrat"/>
                <a:cs typeface="Montserrat"/>
                <a:sym typeface="Montserrat"/>
              </a:rPr>
              <a:t>Psychological and demographic correlates in prior research</a:t>
            </a:r>
            <a:endParaRPr>
              <a:solidFill>
                <a:schemeClr val="dk2"/>
              </a:solidFill>
              <a:latin typeface="Montserrat"/>
              <a:ea typeface="Montserrat"/>
              <a:cs typeface="Montserrat"/>
              <a:sym typeface="Montserrat"/>
            </a:endParaRPr>
          </a:p>
          <a:p>
            <a:pPr indent="0" lvl="0" marL="0" marR="0" rtl="0" algn="just">
              <a:lnSpc>
                <a:spcPct val="140016"/>
              </a:lnSpc>
              <a:spcBef>
                <a:spcPts val="0"/>
              </a:spcBef>
              <a:spcAft>
                <a:spcPts val="0"/>
              </a:spcAft>
              <a:buNone/>
            </a:pPr>
            <a:r>
              <a:t/>
            </a:r>
            <a:endParaRPr sz="1200">
              <a:solidFill>
                <a:srgbClr val="122857"/>
              </a:solidFill>
            </a:endParaRPr>
          </a:p>
        </p:txBody>
      </p:sp>
      <p:sp>
        <p:nvSpPr>
          <p:cNvPr id="218" name="Google Shape;218;p29"/>
          <p:cNvSpPr txBox="1"/>
          <p:nvPr/>
        </p:nvSpPr>
        <p:spPr>
          <a:xfrm>
            <a:off x="1083375" y="977775"/>
            <a:ext cx="6820200" cy="492600"/>
          </a:xfrm>
          <a:prstGeom prst="rect">
            <a:avLst/>
          </a:prstGeom>
          <a:noFill/>
          <a:ln>
            <a:noFill/>
          </a:ln>
        </p:spPr>
        <p:txBody>
          <a:bodyPr anchorCtr="0" anchor="t" bIns="0" lIns="0" spcFirstLastPara="1" rIns="0" wrap="square" tIns="0">
            <a:spAutoFit/>
          </a:bodyPr>
          <a:lstStyle/>
          <a:p>
            <a:pPr indent="0" lvl="0" marL="0" rtl="0" algn="ctr">
              <a:lnSpc>
                <a:spcPct val="79991"/>
              </a:lnSpc>
              <a:spcBef>
                <a:spcPts val="0"/>
              </a:spcBef>
              <a:spcAft>
                <a:spcPts val="0"/>
              </a:spcAft>
              <a:buClr>
                <a:schemeClr val="dk1"/>
              </a:buClr>
              <a:buFont typeface="Arial"/>
              <a:buNone/>
            </a:pPr>
            <a:r>
              <a:rPr b="1" lang="en" sz="4000">
                <a:solidFill>
                  <a:srgbClr val="122857"/>
                </a:solidFill>
                <a:latin typeface="Sura"/>
                <a:ea typeface="Sura"/>
                <a:cs typeface="Sura"/>
                <a:sym typeface="Sura"/>
              </a:rPr>
              <a:t>What is somatic symptoms?</a:t>
            </a:r>
            <a:endParaRPr sz="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222" name="Shape 222"/>
        <p:cNvGrpSpPr/>
        <p:nvPr/>
      </p:nvGrpSpPr>
      <p:grpSpPr>
        <a:xfrm>
          <a:off x="0" y="0"/>
          <a:ext cx="0" cy="0"/>
          <a:chOff x="0" y="0"/>
          <a:chExt cx="0" cy="0"/>
        </a:xfrm>
      </p:grpSpPr>
      <p:grpSp>
        <p:nvGrpSpPr>
          <p:cNvPr id="223" name="Google Shape;223;p30"/>
          <p:cNvGrpSpPr/>
          <p:nvPr/>
        </p:nvGrpSpPr>
        <p:grpSpPr>
          <a:xfrm>
            <a:off x="514350" y="423939"/>
            <a:ext cx="8115140" cy="4205336"/>
            <a:chOff x="0" y="-47625"/>
            <a:chExt cx="4274726" cy="2215200"/>
          </a:xfrm>
        </p:grpSpPr>
        <p:sp>
          <p:nvSpPr>
            <p:cNvPr id="224" name="Google Shape;224;p30"/>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225" name="Google Shape;225;p30"/>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6" name="Google Shape;226;p30"/>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227" name="Google Shape;227;p30"/>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228" name="Google Shape;228;p30"/>
          <p:cNvGrpSpPr/>
          <p:nvPr/>
        </p:nvGrpSpPr>
        <p:grpSpPr>
          <a:xfrm>
            <a:off x="1648978" y="4353158"/>
            <a:ext cx="5846064" cy="5846064"/>
            <a:chOff x="0" y="0"/>
            <a:chExt cx="812800" cy="812800"/>
          </a:xfrm>
        </p:grpSpPr>
        <p:sp>
          <p:nvSpPr>
            <p:cNvPr id="229" name="Google Shape;229;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0" name="Google Shape;230;p30"/>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1" name="Google Shape;231;p30"/>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32" name="Google Shape;232;p30"/>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33" name="Google Shape;233;p30"/>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34" name="Google Shape;234;p30"/>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35" name="Google Shape;235;p30"/>
          <p:cNvSpPr txBox="1"/>
          <p:nvPr/>
        </p:nvSpPr>
        <p:spPr>
          <a:xfrm>
            <a:off x="726800" y="1213475"/>
            <a:ext cx="3010500" cy="7143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 sz="2900">
                <a:solidFill>
                  <a:srgbClr val="122857"/>
                </a:solidFill>
                <a:latin typeface="Sura"/>
                <a:ea typeface="Sura"/>
                <a:cs typeface="Sura"/>
                <a:sym typeface="Sura"/>
              </a:rPr>
              <a:t>What is PHQ - 15 questionnaires?</a:t>
            </a:r>
            <a:endParaRPr b="1" sz="2900">
              <a:solidFill>
                <a:srgbClr val="122857"/>
              </a:solidFill>
              <a:latin typeface="Sura"/>
              <a:ea typeface="Sura"/>
              <a:cs typeface="Sura"/>
              <a:sym typeface="Sura"/>
            </a:endParaRPr>
          </a:p>
        </p:txBody>
      </p:sp>
      <p:pic>
        <p:nvPicPr>
          <p:cNvPr id="236" name="Google Shape;236;p30"/>
          <p:cNvPicPr preferRelativeResize="0"/>
          <p:nvPr/>
        </p:nvPicPr>
        <p:blipFill>
          <a:blip r:embed="rId6">
            <a:alphaModFix/>
          </a:blip>
          <a:stretch>
            <a:fillRect/>
          </a:stretch>
        </p:blipFill>
        <p:spPr>
          <a:xfrm>
            <a:off x="4115400" y="585450"/>
            <a:ext cx="3815925" cy="3882325"/>
          </a:xfrm>
          <a:prstGeom prst="rect">
            <a:avLst/>
          </a:prstGeom>
          <a:noFill/>
          <a:ln>
            <a:noFill/>
          </a:ln>
        </p:spPr>
      </p:pic>
      <p:sp>
        <p:nvSpPr>
          <p:cNvPr id="237" name="Google Shape;237;p30"/>
          <p:cNvSpPr txBox="1"/>
          <p:nvPr/>
        </p:nvSpPr>
        <p:spPr>
          <a:xfrm>
            <a:off x="726800" y="1988725"/>
            <a:ext cx="3388500" cy="119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Montserrat"/>
                <a:ea typeface="Montserrat"/>
                <a:cs typeface="Montserrat"/>
                <a:sym typeface="Montserrat"/>
              </a:rPr>
              <a:t>The most commonly used screening instrument to detect somatization symptoms in the general population.</a:t>
            </a:r>
            <a:endParaRPr sz="1600">
              <a:solidFill>
                <a:schemeClr val="dk1"/>
              </a:solidFill>
              <a:latin typeface="Montserrat"/>
              <a:ea typeface="Montserrat"/>
              <a:cs typeface="Montserrat"/>
              <a:sym typeface="Montserrat"/>
            </a:endParaRPr>
          </a:p>
        </p:txBody>
      </p:sp>
      <p:sp>
        <p:nvSpPr>
          <p:cNvPr id="238" name="Google Shape;238;p30"/>
          <p:cNvSpPr txBox="1"/>
          <p:nvPr/>
        </p:nvSpPr>
        <p:spPr>
          <a:xfrm>
            <a:off x="726800" y="3226550"/>
            <a:ext cx="3303600" cy="93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Montserrat"/>
                <a:ea typeface="Montserrat"/>
                <a:cs typeface="Montserrat"/>
                <a:sym typeface="Montserrat"/>
              </a:rPr>
              <a:t>Summed scores across item responses were used for analysis with higher scores indicating more severe somatic symptoms</a:t>
            </a:r>
            <a:r>
              <a:rPr lang="en" sz="800">
                <a:solidFill>
                  <a:schemeClr val="dk1"/>
                </a:solidFill>
              </a:rPr>
              <a:t>	</a:t>
            </a:r>
            <a:r>
              <a:rPr lang="en" sz="600">
                <a:solidFill>
                  <a:schemeClr val="dk1"/>
                </a:solidFill>
              </a:rPr>
              <a:t>		</a:t>
            </a:r>
            <a:endParaRPr sz="600">
              <a:solidFill>
                <a:schemeClr val="dk1"/>
              </a:solidFill>
            </a:endParaRPr>
          </a:p>
          <a:p>
            <a:pPr indent="0" lvl="0" marL="0" rtl="0" algn="l">
              <a:spcBef>
                <a:spcPts val="0"/>
              </a:spcBef>
              <a:spcAft>
                <a:spcPts val="0"/>
              </a:spcAft>
              <a:buNone/>
            </a:pPr>
            <a:r>
              <a:rPr lang="en" sz="600">
                <a:solidFill>
                  <a:schemeClr val="dk1"/>
                </a:solidFill>
              </a:rPr>
              <a:t>				</a:t>
            </a:r>
            <a:endParaRPr sz="600">
              <a:solidFill>
                <a:schemeClr val="dk1"/>
              </a:solidFill>
            </a:endParaRPr>
          </a:p>
          <a:p>
            <a:pPr indent="0" lvl="0" marL="0" rtl="0" algn="l">
              <a:spcBef>
                <a:spcPts val="0"/>
              </a:spcBef>
              <a:spcAft>
                <a:spcPts val="0"/>
              </a:spcAft>
              <a:buNone/>
            </a:pPr>
            <a:r>
              <a:rPr lang="en" sz="600">
                <a:solidFill>
                  <a:schemeClr val="dk1"/>
                </a:solidFill>
              </a:rPr>
              <a:t>					</a:t>
            </a:r>
            <a:endParaRPr sz="600">
              <a:solidFill>
                <a:schemeClr val="dk1"/>
              </a:solidFill>
            </a:endParaRPr>
          </a:p>
          <a:p>
            <a:pPr indent="0" lvl="0" marL="0" rtl="0" algn="l">
              <a:lnSpc>
                <a:spcPct val="115000"/>
              </a:lnSpc>
              <a:spcBef>
                <a:spcPts val="1200"/>
              </a:spcBef>
              <a:spcAft>
                <a:spcPts val="0"/>
              </a:spcAft>
              <a:buNone/>
            </a:pPr>
            <a:r>
              <a:rPr lang="en" sz="500">
                <a:solidFill>
                  <a:schemeClr val="dk1"/>
                </a:solidFill>
              </a:rPr>
              <a:t> </a:t>
            </a:r>
            <a:endParaRPr sz="500">
              <a:solidFill>
                <a:schemeClr val="dk1"/>
              </a:solidFill>
            </a:endParaRPr>
          </a:p>
          <a:p>
            <a:pPr indent="0" lvl="0" marL="0" rtl="0" algn="l">
              <a:lnSpc>
                <a:spcPct val="115000"/>
              </a:lnSpc>
              <a:spcBef>
                <a:spcPts val="1200"/>
              </a:spcBef>
              <a:spcAft>
                <a:spcPts val="0"/>
              </a:spcAft>
              <a:buNone/>
            </a:pPr>
            <a:r>
              <a:rPr lang="en" sz="600">
                <a:solidFill>
                  <a:schemeClr val="dk1"/>
                </a:solidFill>
              </a:rPr>
              <a:t>				</a:t>
            </a:r>
            <a:endParaRPr sz="600">
              <a:solidFill>
                <a:schemeClr val="dk1"/>
              </a:solidFill>
            </a:endParaRPr>
          </a:p>
          <a:p>
            <a:pPr indent="0" lvl="0" marL="0" rtl="0" algn="l">
              <a:spcBef>
                <a:spcPts val="0"/>
              </a:spcBef>
              <a:spcAft>
                <a:spcPts val="0"/>
              </a:spcAft>
              <a:buNone/>
            </a:pPr>
            <a:r>
              <a:rPr lang="en" sz="600">
                <a:solidFill>
                  <a:schemeClr val="dk1"/>
                </a:solidFill>
              </a:rPr>
              <a:t>			</a:t>
            </a:r>
            <a:endParaRPr sz="600">
              <a:solidFill>
                <a:schemeClr val="dk1"/>
              </a:solidFill>
            </a:endParaRPr>
          </a:p>
          <a:p>
            <a:pPr indent="0" lvl="0" marL="0" rtl="0" algn="l">
              <a:spcBef>
                <a:spcPts val="0"/>
              </a:spcBef>
              <a:spcAft>
                <a:spcPts val="0"/>
              </a:spcAft>
              <a:buNone/>
            </a:pPr>
            <a:r>
              <a:rPr lang="en" sz="600">
                <a:solidFill>
                  <a:schemeClr val="dk1"/>
                </a:solidFill>
              </a:rPr>
              <a:t>		</a:t>
            </a:r>
            <a:endParaRPr sz="600">
              <a:solidFill>
                <a:schemeClr val="dk1"/>
              </a:solidFill>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242" name="Shape 242"/>
        <p:cNvGrpSpPr/>
        <p:nvPr/>
      </p:nvGrpSpPr>
      <p:grpSpPr>
        <a:xfrm>
          <a:off x="0" y="0"/>
          <a:ext cx="0" cy="0"/>
          <a:chOff x="0" y="0"/>
          <a:chExt cx="0" cy="0"/>
        </a:xfrm>
      </p:grpSpPr>
      <p:sp>
        <p:nvSpPr>
          <p:cNvPr id="243" name="Google Shape;243;p31"/>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244" name="Google Shape;244;p31"/>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245" name="Google Shape;245;p31"/>
          <p:cNvGrpSpPr/>
          <p:nvPr/>
        </p:nvGrpSpPr>
        <p:grpSpPr>
          <a:xfrm>
            <a:off x="1648979" y="4353158"/>
            <a:ext cx="5846044" cy="5846043"/>
            <a:chOff x="0" y="0"/>
            <a:chExt cx="812800" cy="812800"/>
          </a:xfrm>
        </p:grpSpPr>
        <p:sp>
          <p:nvSpPr>
            <p:cNvPr id="246" name="Google Shape;246;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7" name="Google Shape;247;p31"/>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48" name="Google Shape;248;p31"/>
          <p:cNvSpPr/>
          <p:nvPr/>
        </p:nvSpPr>
        <p:spPr>
          <a:xfrm>
            <a:off x="-57287" y="4369869"/>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49" name="Google Shape;249;p31"/>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50" name="Google Shape;250;p31"/>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51" name="Google Shape;251;p31"/>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52" name="Google Shape;252;p31"/>
          <p:cNvSpPr txBox="1"/>
          <p:nvPr/>
        </p:nvSpPr>
        <p:spPr>
          <a:xfrm>
            <a:off x="1414350" y="243000"/>
            <a:ext cx="6080700" cy="5910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Clr>
                <a:srgbClr val="000000"/>
              </a:buClr>
              <a:buFont typeface="Arial"/>
              <a:buNone/>
            </a:pPr>
            <a:r>
              <a:rPr b="1" lang="en" sz="4800">
                <a:solidFill>
                  <a:srgbClr val="122857"/>
                </a:solidFill>
                <a:latin typeface="Sura"/>
                <a:ea typeface="Sura"/>
                <a:cs typeface="Sura"/>
                <a:sym typeface="Sura"/>
              </a:rPr>
              <a:t>Literature Review</a:t>
            </a:r>
            <a:endParaRPr sz="700"/>
          </a:p>
        </p:txBody>
      </p:sp>
      <p:sp>
        <p:nvSpPr>
          <p:cNvPr id="253" name="Google Shape;253;p31"/>
          <p:cNvSpPr txBox="1"/>
          <p:nvPr/>
        </p:nvSpPr>
        <p:spPr>
          <a:xfrm>
            <a:off x="836525" y="857100"/>
            <a:ext cx="7264800" cy="339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50">
                <a:solidFill>
                  <a:schemeClr val="dk1"/>
                </a:solidFill>
                <a:latin typeface="Montserrat"/>
                <a:ea typeface="Montserrat"/>
                <a:cs typeface="Montserrat"/>
                <a:sym typeface="Montserrat"/>
              </a:rPr>
              <a:t>Headache</a:t>
            </a:r>
            <a:endParaRPr b="1" sz="155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Stress </a:t>
            </a:r>
            <a:r>
              <a:rPr i="1" lang="en" sz="1200">
                <a:solidFill>
                  <a:schemeClr val="dk1"/>
                </a:solidFill>
                <a:latin typeface="Montserrat"/>
                <a:ea typeface="Montserrat"/>
                <a:cs typeface="Montserrat"/>
                <a:sym typeface="Montserrat"/>
              </a:rPr>
              <a:t>(Duan et al., 2023)</a:t>
            </a:r>
            <a:endParaRPr i="1" sz="120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mood </a:t>
            </a:r>
            <a:r>
              <a:rPr lang="en" sz="1550">
                <a:solidFill>
                  <a:schemeClr val="dk1"/>
                </a:solidFill>
                <a:latin typeface="Montserrat"/>
                <a:ea typeface="Montserrat"/>
                <a:cs typeface="Montserrat"/>
                <a:sym typeface="Montserrat"/>
              </a:rPr>
              <a:t>symptom </a:t>
            </a:r>
            <a:r>
              <a:rPr i="1" lang="en" sz="1200">
                <a:solidFill>
                  <a:schemeClr val="dk1"/>
                </a:solidFill>
                <a:latin typeface="Montserrat"/>
                <a:ea typeface="Montserrat"/>
                <a:cs typeface="Montserrat"/>
                <a:sym typeface="Montserrat"/>
              </a:rPr>
              <a:t>(Holroyd et al., 2000)</a:t>
            </a:r>
            <a:endParaRPr i="1" sz="12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550">
                <a:solidFill>
                  <a:schemeClr val="dk1"/>
                </a:solidFill>
                <a:latin typeface="Montserrat"/>
                <a:ea typeface="Montserrat"/>
                <a:cs typeface="Montserrat"/>
                <a:sym typeface="Montserrat"/>
              </a:rPr>
              <a:t>Shortness of breath </a:t>
            </a:r>
            <a:r>
              <a:rPr b="1" lang="en" sz="1550">
                <a:solidFill>
                  <a:schemeClr val="dk1"/>
                </a:solidFill>
                <a:latin typeface="Montserrat"/>
                <a:ea typeface="Montserrat"/>
                <a:cs typeface="Montserrat"/>
                <a:sym typeface="Montserrat"/>
              </a:rPr>
              <a:t>/ chest pain </a:t>
            </a:r>
            <a:r>
              <a:rPr b="1" lang="en" sz="1550">
                <a:solidFill>
                  <a:schemeClr val="dk1"/>
                </a:solidFill>
                <a:latin typeface="Montserrat"/>
                <a:ea typeface="Montserrat"/>
                <a:cs typeface="Montserrat"/>
                <a:sym typeface="Montserrat"/>
              </a:rPr>
              <a:t>(stronger physical associations)</a:t>
            </a:r>
            <a:endParaRPr b="1" sz="155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identifiable medical conditions </a:t>
            </a:r>
            <a:r>
              <a:rPr i="1" lang="en" sz="1200">
                <a:solidFill>
                  <a:schemeClr val="dk1"/>
                </a:solidFill>
                <a:latin typeface="Montserrat"/>
                <a:ea typeface="Montserrat"/>
                <a:cs typeface="Montserrat"/>
                <a:sym typeface="Montserrat"/>
              </a:rPr>
              <a:t>(Zachariah et al., 2017; </a:t>
            </a:r>
            <a:r>
              <a:rPr lang="en" sz="1200">
                <a:solidFill>
                  <a:schemeClr val="dk1"/>
                </a:solidFill>
                <a:latin typeface="Montserrat"/>
                <a:ea typeface="Montserrat"/>
                <a:cs typeface="Montserrat"/>
                <a:sym typeface="Montserrat"/>
              </a:rPr>
              <a:t>Gulati et al., 2021; Riley et al., 2022</a:t>
            </a:r>
            <a:r>
              <a:rPr i="1" lang="en" sz="1200">
                <a:solidFill>
                  <a:schemeClr val="dk1"/>
                </a:solidFill>
                <a:latin typeface="Montserrat"/>
                <a:ea typeface="Montserrat"/>
                <a:cs typeface="Montserrat"/>
                <a:sym typeface="Montserrat"/>
              </a:rPr>
              <a:t>)</a:t>
            </a:r>
            <a:endParaRPr i="1" sz="12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550">
                <a:solidFill>
                  <a:schemeClr val="dk1"/>
                </a:solidFill>
                <a:latin typeface="Montserrat"/>
                <a:ea typeface="Montserrat"/>
                <a:cs typeface="Montserrat"/>
                <a:sym typeface="Montserrat"/>
              </a:rPr>
              <a:t>Fatigue </a:t>
            </a:r>
            <a:r>
              <a:rPr i="1" lang="en" sz="1200">
                <a:solidFill>
                  <a:schemeClr val="dk1"/>
                </a:solidFill>
                <a:latin typeface="Montserrat"/>
                <a:ea typeface="Montserrat"/>
                <a:cs typeface="Montserrat"/>
                <a:sym typeface="Montserrat"/>
              </a:rPr>
              <a:t>(Creed et al., 2022)</a:t>
            </a:r>
            <a:endParaRPr b="1" i="1" sz="120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Stress</a:t>
            </a:r>
            <a:endParaRPr sz="155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chronic illness</a:t>
            </a:r>
            <a:endParaRPr sz="155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Anxiety</a:t>
            </a:r>
            <a:endParaRPr sz="155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Neuroticism </a:t>
            </a:r>
            <a:endParaRPr sz="155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550">
                <a:solidFill>
                  <a:schemeClr val="dk1"/>
                </a:solidFill>
                <a:latin typeface="Montserrat"/>
                <a:ea typeface="Montserrat"/>
                <a:cs typeface="Montserrat"/>
                <a:sym typeface="Montserrat"/>
              </a:rPr>
              <a:t>Sleep problems </a:t>
            </a:r>
            <a:r>
              <a:rPr i="1" lang="en" sz="1200">
                <a:solidFill>
                  <a:schemeClr val="dk1"/>
                </a:solidFill>
                <a:latin typeface="Montserrat"/>
                <a:ea typeface="Montserrat"/>
                <a:cs typeface="Montserrat"/>
                <a:sym typeface="Montserrat"/>
              </a:rPr>
              <a:t>(Meredith et al., 2020)</a:t>
            </a:r>
            <a:endParaRPr b="1" i="1" sz="120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chronic health conditions</a:t>
            </a:r>
            <a:endParaRPr sz="1550">
              <a:solidFill>
                <a:schemeClr val="dk1"/>
              </a:solidFill>
              <a:latin typeface="Montserrat"/>
              <a:ea typeface="Montserrat"/>
              <a:cs typeface="Montserrat"/>
              <a:sym typeface="Montserrat"/>
            </a:endParaRPr>
          </a:p>
          <a:p>
            <a:pPr indent="-327025" lvl="0" marL="457200" rtl="0" algn="l">
              <a:spcBef>
                <a:spcPts val="0"/>
              </a:spcBef>
              <a:spcAft>
                <a:spcPts val="0"/>
              </a:spcAft>
              <a:buClr>
                <a:schemeClr val="dk1"/>
              </a:buClr>
              <a:buSzPts val="1550"/>
              <a:buFont typeface="Montserrat"/>
              <a:buChar char="●"/>
            </a:pPr>
            <a:r>
              <a:rPr lang="en" sz="1550">
                <a:solidFill>
                  <a:schemeClr val="dk1"/>
                </a:solidFill>
                <a:latin typeface="Montserrat"/>
                <a:ea typeface="Montserrat"/>
                <a:cs typeface="Montserrat"/>
                <a:sym typeface="Montserrat"/>
              </a:rPr>
              <a:t>increased by financial strain and reduced by physical activity</a:t>
            </a:r>
            <a:endParaRPr sz="155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55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257" name="Shape 257"/>
        <p:cNvGrpSpPr/>
        <p:nvPr/>
      </p:nvGrpSpPr>
      <p:grpSpPr>
        <a:xfrm>
          <a:off x="0" y="0"/>
          <a:ext cx="0" cy="0"/>
          <a:chOff x="0" y="0"/>
          <a:chExt cx="0" cy="0"/>
        </a:xfrm>
      </p:grpSpPr>
      <p:grpSp>
        <p:nvGrpSpPr>
          <p:cNvPr id="258" name="Google Shape;258;p32"/>
          <p:cNvGrpSpPr/>
          <p:nvPr/>
        </p:nvGrpSpPr>
        <p:grpSpPr>
          <a:xfrm>
            <a:off x="514425" y="376139"/>
            <a:ext cx="8115140" cy="4205131"/>
            <a:chOff x="0" y="-47625"/>
            <a:chExt cx="4274726" cy="2215092"/>
          </a:xfrm>
        </p:grpSpPr>
        <p:sp>
          <p:nvSpPr>
            <p:cNvPr id="259" name="Google Shape;259;p32"/>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260" name="Google Shape;260;p32"/>
            <p:cNvSpPr txBox="1"/>
            <p:nvPr/>
          </p:nvSpPr>
          <p:spPr>
            <a:xfrm>
              <a:off x="0" y="-47625"/>
              <a:ext cx="4274726"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1" name="Google Shape;261;p32"/>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262" name="Google Shape;262;p32"/>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263" name="Google Shape;263;p32"/>
          <p:cNvGrpSpPr/>
          <p:nvPr/>
        </p:nvGrpSpPr>
        <p:grpSpPr>
          <a:xfrm>
            <a:off x="1648979" y="4353158"/>
            <a:ext cx="5846044" cy="5846043"/>
            <a:chOff x="0" y="0"/>
            <a:chExt cx="812800" cy="812800"/>
          </a:xfrm>
        </p:grpSpPr>
        <p:sp>
          <p:nvSpPr>
            <p:cNvPr id="264" name="Google Shape;264;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5" name="Google Shape;265;p3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6" name="Google Shape;266;p32"/>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67" name="Google Shape;267;p32"/>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68" name="Google Shape;268;p32"/>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69" name="Google Shape;269;p32"/>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70" name="Google Shape;270;p32"/>
          <p:cNvSpPr txBox="1"/>
          <p:nvPr/>
        </p:nvSpPr>
        <p:spPr>
          <a:xfrm>
            <a:off x="1060450" y="1358975"/>
            <a:ext cx="3710100" cy="3269700"/>
          </a:xfrm>
          <a:prstGeom prst="rect">
            <a:avLst/>
          </a:prstGeom>
          <a:noFill/>
          <a:ln>
            <a:noFill/>
          </a:ln>
        </p:spPr>
        <p:txBody>
          <a:bodyPr anchorCtr="0" anchor="t" bIns="0" lIns="0" spcFirstLastPara="1" rIns="0" wrap="square" tIns="0">
            <a:spAutoFit/>
          </a:bodyPr>
          <a:lstStyle/>
          <a:p>
            <a:pPr indent="-330200" lvl="0" marL="457200" marR="0" rtl="0" algn="l">
              <a:lnSpc>
                <a:spcPct val="140030"/>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Source: EAMMi2 dataset (Grahe et al., 2018)</a:t>
            </a:r>
            <a:endParaRPr sz="1600">
              <a:solidFill>
                <a:srgbClr val="122857"/>
              </a:solidFill>
              <a:latin typeface="Sura"/>
              <a:ea typeface="Sura"/>
              <a:cs typeface="Sura"/>
              <a:sym typeface="Sura"/>
            </a:endParaRPr>
          </a:p>
          <a:p>
            <a:pPr indent="-330200" lvl="0" marL="457200" marR="0" rtl="0" algn="l">
              <a:lnSpc>
                <a:spcPct val="140030"/>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4000+ participants from 30+ universities</a:t>
            </a:r>
            <a:endParaRPr sz="1600">
              <a:solidFill>
                <a:srgbClr val="122857"/>
              </a:solidFill>
              <a:latin typeface="Sura"/>
              <a:ea typeface="Sura"/>
              <a:cs typeface="Sura"/>
              <a:sym typeface="Sura"/>
            </a:endParaRPr>
          </a:p>
          <a:p>
            <a:pPr indent="-330200" lvl="0" marL="457200" rtl="0" algn="l">
              <a:lnSpc>
                <a:spcPct val="115000"/>
              </a:lnSpc>
              <a:spcBef>
                <a:spcPts val="0"/>
              </a:spcBef>
              <a:spcAft>
                <a:spcPts val="0"/>
              </a:spcAft>
              <a:buClr>
                <a:srgbClr val="122857"/>
              </a:buClr>
              <a:buSzPts val="1600"/>
              <a:buFont typeface="Sura"/>
              <a:buChar char="●"/>
            </a:pPr>
            <a:r>
              <a:rPr lang="en" sz="1600">
                <a:solidFill>
                  <a:srgbClr val="484848"/>
                </a:solidFill>
                <a:latin typeface="Sura"/>
                <a:ea typeface="Sura"/>
                <a:cs typeface="Sura"/>
                <a:sym typeface="Sura"/>
              </a:rPr>
              <a:t>Participants’s age range from 18 to 29.</a:t>
            </a:r>
            <a:endParaRPr sz="1600">
              <a:solidFill>
                <a:srgbClr val="484848"/>
              </a:solidFill>
              <a:latin typeface="Sura"/>
              <a:ea typeface="Sura"/>
              <a:cs typeface="Sura"/>
              <a:sym typeface="Sura"/>
            </a:endParaRPr>
          </a:p>
          <a:p>
            <a:pPr indent="-330200" lvl="0" marL="457200" rtl="0" algn="l">
              <a:lnSpc>
                <a:spcPct val="115000"/>
              </a:lnSpc>
              <a:spcBef>
                <a:spcPts val="0"/>
              </a:spcBef>
              <a:spcAft>
                <a:spcPts val="0"/>
              </a:spcAft>
              <a:buClr>
                <a:srgbClr val="484848"/>
              </a:buClr>
              <a:buSzPts val="1600"/>
              <a:buFont typeface="Sura"/>
              <a:buChar char="●"/>
            </a:pPr>
            <a:r>
              <a:rPr lang="en" sz="1600">
                <a:solidFill>
                  <a:srgbClr val="484848"/>
                </a:solidFill>
                <a:latin typeface="Sura"/>
                <a:ea typeface="Sura"/>
                <a:cs typeface="Sura"/>
                <a:sym typeface="Sura"/>
              </a:rPr>
              <a:t>72.8% of respondents were women (</a:t>
            </a:r>
            <a:r>
              <a:rPr i="1" lang="en" sz="1600">
                <a:solidFill>
                  <a:srgbClr val="484848"/>
                </a:solidFill>
                <a:latin typeface="Sura"/>
                <a:ea typeface="Sura"/>
                <a:cs typeface="Sura"/>
                <a:sym typeface="Sura"/>
              </a:rPr>
              <a:t>Nwomen</a:t>
            </a:r>
            <a:r>
              <a:rPr lang="en" sz="1600">
                <a:solidFill>
                  <a:srgbClr val="484848"/>
                </a:solidFill>
                <a:latin typeface="Sura"/>
                <a:ea typeface="Sura"/>
                <a:cs typeface="Sura"/>
                <a:sym typeface="Sura"/>
              </a:rPr>
              <a:t> = 2280; </a:t>
            </a:r>
            <a:r>
              <a:rPr i="1" lang="en" sz="1600">
                <a:solidFill>
                  <a:srgbClr val="484848"/>
                </a:solidFill>
                <a:latin typeface="Sura"/>
                <a:ea typeface="Sura"/>
                <a:cs typeface="Sura"/>
                <a:sym typeface="Sura"/>
              </a:rPr>
              <a:t>Nmen</a:t>
            </a:r>
            <a:r>
              <a:rPr lang="en" sz="1600">
                <a:solidFill>
                  <a:srgbClr val="484848"/>
                </a:solidFill>
                <a:latin typeface="Sura"/>
                <a:ea typeface="Sura"/>
                <a:cs typeface="Sura"/>
                <a:sym typeface="Sura"/>
              </a:rPr>
              <a:t> = 771) (</a:t>
            </a:r>
            <a:r>
              <a:rPr i="1" lang="en" sz="1600">
                <a:solidFill>
                  <a:srgbClr val="484848"/>
                </a:solidFill>
                <a:latin typeface="Sura"/>
                <a:ea typeface="Sura"/>
                <a:cs typeface="Sura"/>
                <a:sym typeface="Sura"/>
              </a:rPr>
              <a:t>Mage</a:t>
            </a:r>
            <a:r>
              <a:rPr lang="en" sz="1600">
                <a:solidFill>
                  <a:srgbClr val="484848"/>
                </a:solidFill>
                <a:latin typeface="Sura"/>
                <a:ea typeface="Sura"/>
                <a:cs typeface="Sura"/>
                <a:sym typeface="Sura"/>
              </a:rPr>
              <a:t> = 21.10, </a:t>
            </a:r>
            <a:r>
              <a:rPr i="1" lang="en" sz="1600">
                <a:solidFill>
                  <a:srgbClr val="484848"/>
                </a:solidFill>
                <a:latin typeface="Sura"/>
                <a:ea typeface="Sura"/>
                <a:cs typeface="Sura"/>
                <a:sym typeface="Sura"/>
              </a:rPr>
              <a:t>SD</a:t>
            </a:r>
            <a:r>
              <a:rPr lang="en" sz="1600">
                <a:solidFill>
                  <a:srgbClr val="484848"/>
                </a:solidFill>
                <a:latin typeface="Sura"/>
                <a:ea typeface="Sura"/>
                <a:cs typeface="Sura"/>
                <a:sym typeface="Sura"/>
              </a:rPr>
              <a:t> = 4.83)</a:t>
            </a:r>
            <a:endParaRPr sz="1600">
              <a:solidFill>
                <a:srgbClr val="484848"/>
              </a:solidFill>
              <a:latin typeface="Sura"/>
              <a:ea typeface="Sura"/>
              <a:cs typeface="Sura"/>
              <a:sym typeface="Sura"/>
            </a:endParaRPr>
          </a:p>
          <a:p>
            <a:pPr indent="0" lvl="0" marL="914400" marR="0" rtl="0" algn="l">
              <a:lnSpc>
                <a:spcPct val="140030"/>
              </a:lnSpc>
              <a:spcBef>
                <a:spcPts val="0"/>
              </a:spcBef>
              <a:spcAft>
                <a:spcPts val="0"/>
              </a:spcAft>
              <a:buNone/>
            </a:pPr>
            <a:r>
              <a:t/>
            </a:r>
            <a:endParaRPr sz="1200">
              <a:solidFill>
                <a:srgbClr val="122857"/>
              </a:solidFill>
              <a:latin typeface="Sura"/>
              <a:ea typeface="Sura"/>
              <a:cs typeface="Sura"/>
              <a:sym typeface="Sura"/>
            </a:endParaRPr>
          </a:p>
          <a:p>
            <a:pPr indent="0" lvl="0" marL="0" marR="0" rtl="0" algn="l">
              <a:lnSpc>
                <a:spcPct val="140030"/>
              </a:lnSpc>
              <a:spcBef>
                <a:spcPts val="0"/>
              </a:spcBef>
              <a:spcAft>
                <a:spcPts val="0"/>
              </a:spcAft>
              <a:buNone/>
            </a:pPr>
            <a:r>
              <a:t/>
            </a:r>
            <a:endParaRPr>
              <a:solidFill>
                <a:srgbClr val="122857"/>
              </a:solidFill>
            </a:endParaRPr>
          </a:p>
        </p:txBody>
      </p:sp>
      <p:sp>
        <p:nvSpPr>
          <p:cNvPr id="271" name="Google Shape;271;p32"/>
          <p:cNvSpPr txBox="1"/>
          <p:nvPr/>
        </p:nvSpPr>
        <p:spPr>
          <a:xfrm>
            <a:off x="1908370" y="717315"/>
            <a:ext cx="5124300" cy="5541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 sz="4500">
                <a:solidFill>
                  <a:srgbClr val="122857"/>
                </a:solidFill>
                <a:latin typeface="Sura"/>
                <a:ea typeface="Sura"/>
                <a:cs typeface="Sura"/>
                <a:sym typeface="Sura"/>
              </a:rPr>
              <a:t>Data</a:t>
            </a:r>
            <a:endParaRPr sz="700"/>
          </a:p>
        </p:txBody>
      </p:sp>
      <p:graphicFrame>
        <p:nvGraphicFramePr>
          <p:cNvPr id="272" name="Google Shape;272;p32"/>
          <p:cNvGraphicFramePr/>
          <p:nvPr/>
        </p:nvGraphicFramePr>
        <p:xfrm>
          <a:off x="4770550" y="1231875"/>
          <a:ext cx="3000000" cy="3000000"/>
        </p:xfrm>
        <a:graphic>
          <a:graphicData uri="http://schemas.openxmlformats.org/drawingml/2006/table">
            <a:tbl>
              <a:tblPr>
                <a:noFill/>
                <a:tableStyleId>{8ADF39EC-1803-4F0C-95F4-EEB6FED43408}</a:tableStyleId>
              </a:tblPr>
              <a:tblGrid>
                <a:gridCol w="2103175"/>
                <a:gridCol w="1126900"/>
              </a:tblGrid>
              <a:tr h="346275">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Racial and ethnicity</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percent(%)</a:t>
                      </a:r>
                      <a:endParaRPr sz="1200">
                        <a:solidFill>
                          <a:schemeClr val="dk1"/>
                        </a:solidFill>
                        <a:latin typeface="Times New Roman"/>
                        <a:ea typeface="Times New Roman"/>
                        <a:cs typeface="Times New Roman"/>
                        <a:sym typeface="Times New Roman"/>
                      </a:endParaRPr>
                    </a:p>
                  </a:txBody>
                  <a:tcPr marT="91425" marB="91425" marR="91425" marL="91425"/>
                </a:tc>
              </a:tr>
              <a:tr h="531800">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White/European American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63.5%</a:t>
                      </a:r>
                      <a:endParaRPr sz="1200">
                        <a:solidFill>
                          <a:schemeClr val="dk1"/>
                        </a:solidFill>
                        <a:latin typeface="Times New Roman"/>
                        <a:ea typeface="Times New Roman"/>
                        <a:cs typeface="Times New Roman"/>
                        <a:sym typeface="Times New Roman"/>
                      </a:endParaRPr>
                    </a:p>
                  </a:txBody>
                  <a:tcPr marT="91425" marB="91425" marR="91425" marL="91425"/>
                </a:tc>
              </a:tr>
              <a:tr h="531800">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Black/African-American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7.6%</a:t>
                      </a:r>
                      <a:endParaRPr sz="1200">
                        <a:solidFill>
                          <a:schemeClr val="dk1"/>
                        </a:solidFill>
                        <a:latin typeface="Times New Roman"/>
                        <a:ea typeface="Times New Roman"/>
                        <a:cs typeface="Times New Roman"/>
                        <a:sym typeface="Times New Roman"/>
                      </a:endParaRPr>
                    </a:p>
                  </a:txBody>
                  <a:tcPr marT="91425" marB="91425" marR="91425" marL="91425"/>
                </a:tc>
              </a:tr>
              <a:tr h="359525">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Hispanic/Latino/Latina</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8.7%</a:t>
                      </a:r>
                      <a:endParaRPr sz="1200">
                        <a:solidFill>
                          <a:schemeClr val="dk1"/>
                        </a:solidFill>
                        <a:latin typeface="Times New Roman"/>
                        <a:ea typeface="Times New Roman"/>
                        <a:cs typeface="Times New Roman"/>
                        <a:sym typeface="Times New Roman"/>
                      </a:endParaRPr>
                    </a:p>
                  </a:txBody>
                  <a:tcPr marT="91425" marB="91425" marR="91425" marL="91425"/>
                </a:tc>
              </a:tr>
              <a:tr h="359525">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Asian/Pacific Islander</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6.5%</a:t>
                      </a:r>
                      <a:endParaRPr sz="1200">
                        <a:solidFill>
                          <a:schemeClr val="dk1"/>
                        </a:solidFill>
                        <a:latin typeface="Times New Roman"/>
                        <a:ea typeface="Times New Roman"/>
                        <a:cs typeface="Times New Roman"/>
                        <a:sym typeface="Times New Roman"/>
                      </a:endParaRPr>
                    </a:p>
                  </a:txBody>
                  <a:tcPr marT="91425" marB="91425" marR="91425" marL="91425"/>
                </a:tc>
              </a:tr>
              <a:tr h="359525">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Native American (0.4%) </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0.4%</a:t>
                      </a:r>
                      <a:endParaRPr sz="1200">
                        <a:solidFill>
                          <a:schemeClr val="dk1"/>
                        </a:solidFill>
                        <a:latin typeface="Times New Roman"/>
                        <a:ea typeface="Times New Roman"/>
                        <a:cs typeface="Times New Roman"/>
                        <a:sym typeface="Times New Roman"/>
                      </a:endParaRPr>
                    </a:p>
                  </a:txBody>
                  <a:tcPr marT="91425" marB="91425" marR="91425" marL="91425"/>
                </a:tc>
              </a:tr>
              <a:tr h="359525">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“Other” Race (2.2%), </a:t>
                      </a:r>
                      <a:endParaRPr sz="12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2.2%</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276" name="Shape 276"/>
        <p:cNvGrpSpPr/>
        <p:nvPr/>
      </p:nvGrpSpPr>
      <p:grpSpPr>
        <a:xfrm>
          <a:off x="0" y="0"/>
          <a:ext cx="0" cy="0"/>
          <a:chOff x="0" y="0"/>
          <a:chExt cx="0" cy="0"/>
        </a:xfrm>
      </p:grpSpPr>
      <p:grpSp>
        <p:nvGrpSpPr>
          <p:cNvPr id="277" name="Google Shape;277;p33"/>
          <p:cNvGrpSpPr/>
          <p:nvPr/>
        </p:nvGrpSpPr>
        <p:grpSpPr>
          <a:xfrm>
            <a:off x="514350" y="423939"/>
            <a:ext cx="8115140" cy="4205336"/>
            <a:chOff x="0" y="-47625"/>
            <a:chExt cx="4274726" cy="2215200"/>
          </a:xfrm>
        </p:grpSpPr>
        <p:sp>
          <p:nvSpPr>
            <p:cNvPr id="278" name="Google Shape;278;p33"/>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279" name="Google Shape;279;p33"/>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80" name="Google Shape;280;p33"/>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281" name="Google Shape;281;p33"/>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282" name="Google Shape;282;p33"/>
          <p:cNvGrpSpPr/>
          <p:nvPr/>
        </p:nvGrpSpPr>
        <p:grpSpPr>
          <a:xfrm>
            <a:off x="1648978" y="4353158"/>
            <a:ext cx="5846064" cy="5846064"/>
            <a:chOff x="0" y="0"/>
            <a:chExt cx="812800" cy="812800"/>
          </a:xfrm>
        </p:grpSpPr>
        <p:sp>
          <p:nvSpPr>
            <p:cNvPr id="283" name="Google Shape;283;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4" name="Google Shape;284;p33"/>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85" name="Google Shape;285;p33"/>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86" name="Google Shape;286;p33"/>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87" name="Google Shape;287;p33"/>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288" name="Google Shape;288;p33"/>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289" name="Google Shape;289;p33"/>
          <p:cNvSpPr txBox="1"/>
          <p:nvPr/>
        </p:nvSpPr>
        <p:spPr>
          <a:xfrm>
            <a:off x="2010407" y="542685"/>
            <a:ext cx="5124300" cy="9927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 sz="3000">
                <a:solidFill>
                  <a:srgbClr val="122857"/>
                </a:solidFill>
                <a:latin typeface="Sura"/>
                <a:ea typeface="Sura"/>
                <a:cs typeface="Sura"/>
                <a:sym typeface="Sura"/>
              </a:rPr>
              <a:t>Demographic &amp; </a:t>
            </a:r>
            <a:r>
              <a:rPr b="1" lang="en" sz="3000">
                <a:solidFill>
                  <a:srgbClr val="122857"/>
                </a:solidFill>
                <a:latin typeface="Sura"/>
                <a:ea typeface="Sura"/>
                <a:cs typeface="Sura"/>
                <a:sym typeface="Sura"/>
              </a:rPr>
              <a:t>Attitudinal</a:t>
            </a:r>
            <a:r>
              <a:rPr b="1" lang="en" sz="3000">
                <a:solidFill>
                  <a:srgbClr val="122857"/>
                </a:solidFill>
                <a:latin typeface="Sura"/>
                <a:ea typeface="Sura"/>
                <a:cs typeface="Sura"/>
                <a:sym typeface="Sura"/>
              </a:rPr>
              <a:t> Predictor</a:t>
            </a:r>
            <a:endParaRPr sz="3000"/>
          </a:p>
        </p:txBody>
      </p:sp>
      <p:sp>
        <p:nvSpPr>
          <p:cNvPr id="290" name="Google Shape;290;p33"/>
          <p:cNvSpPr txBox="1"/>
          <p:nvPr/>
        </p:nvSpPr>
        <p:spPr>
          <a:xfrm>
            <a:off x="1161113" y="1436850"/>
            <a:ext cx="6822900" cy="2662800"/>
          </a:xfrm>
          <a:prstGeom prst="rect">
            <a:avLst/>
          </a:prstGeom>
          <a:noFill/>
          <a:ln>
            <a:noFill/>
          </a:ln>
        </p:spPr>
        <p:txBody>
          <a:bodyPr anchorCtr="0" anchor="ctr" bIns="91425" lIns="91425" spcFirstLastPara="1" rIns="91425" wrap="square" tIns="91425">
            <a:spAutoFit/>
          </a:bodyPr>
          <a:lstStyle/>
          <a:p>
            <a:pPr indent="-317500" lvl="0" marL="457200" rtl="0" algn="l">
              <a:lnSpc>
                <a:spcPct val="150000"/>
              </a:lnSpc>
              <a:spcBef>
                <a:spcPts val="600"/>
              </a:spcBef>
              <a:spcAft>
                <a:spcPts val="0"/>
              </a:spcAft>
              <a:buClr>
                <a:srgbClr val="052F58"/>
              </a:buClr>
              <a:buSzPts val="1400"/>
              <a:buChar char="●"/>
            </a:pPr>
            <a:r>
              <a:rPr b="1" lang="en">
                <a:solidFill>
                  <a:srgbClr val="052F58"/>
                </a:solidFill>
                <a:latin typeface="Sura"/>
                <a:ea typeface="Sura"/>
                <a:cs typeface="Sura"/>
                <a:sym typeface="Sura"/>
              </a:rPr>
              <a:t>Sex</a:t>
            </a:r>
            <a:r>
              <a:rPr lang="en">
                <a:solidFill>
                  <a:srgbClr val="052F58"/>
                </a:solidFill>
                <a:latin typeface="Sura"/>
                <a:ea typeface="Sura"/>
                <a:cs typeface="Sura"/>
                <a:sym typeface="Sura"/>
              </a:rPr>
              <a:t> (male, female, other; categorical)</a:t>
            </a:r>
            <a:endParaRPr>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Font typeface="Sura"/>
              <a:buChar char="●"/>
            </a:pPr>
            <a:r>
              <a:rPr b="1" lang="en">
                <a:solidFill>
                  <a:srgbClr val="052F58"/>
                </a:solidFill>
                <a:latin typeface="Sura"/>
                <a:ea typeface="Sura"/>
                <a:cs typeface="Sura"/>
                <a:sym typeface="Sura"/>
              </a:rPr>
              <a:t>Education level</a:t>
            </a:r>
            <a:endParaRPr b="1">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Font typeface="Sura"/>
              <a:buChar char="●"/>
            </a:pPr>
            <a:r>
              <a:rPr b="1" lang="en">
                <a:solidFill>
                  <a:srgbClr val="052F58"/>
                </a:solidFill>
                <a:latin typeface="Sura"/>
                <a:ea typeface="Sura"/>
                <a:cs typeface="Sura"/>
                <a:sym typeface="Sura"/>
              </a:rPr>
              <a:t>Race/Ethnicity</a:t>
            </a:r>
            <a:endParaRPr b="1">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Font typeface="Sura"/>
              <a:buChar char="●"/>
            </a:pPr>
            <a:r>
              <a:rPr b="1" lang="en">
                <a:solidFill>
                  <a:srgbClr val="052F58"/>
                </a:solidFill>
                <a:latin typeface="Sura"/>
                <a:ea typeface="Sura"/>
                <a:cs typeface="Sura"/>
                <a:sym typeface="Sura"/>
              </a:rPr>
              <a:t>Household income</a:t>
            </a:r>
            <a:endParaRPr b="1">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Font typeface="Sura"/>
              <a:buChar char="●"/>
            </a:pPr>
            <a:r>
              <a:rPr b="1" lang="en">
                <a:solidFill>
                  <a:srgbClr val="052F58"/>
                </a:solidFill>
                <a:latin typeface="Sura"/>
                <a:ea typeface="Sura"/>
                <a:cs typeface="Sura"/>
                <a:sym typeface="Sura"/>
              </a:rPr>
              <a:t>School attended</a:t>
            </a:r>
            <a:endParaRPr b="1">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Char char="●"/>
            </a:pPr>
            <a:r>
              <a:rPr b="1" lang="en">
                <a:solidFill>
                  <a:srgbClr val="052F58"/>
                </a:solidFill>
                <a:latin typeface="Sura"/>
                <a:ea typeface="Sura"/>
                <a:cs typeface="Sura"/>
                <a:sym typeface="Sura"/>
              </a:rPr>
              <a:t>Parental marriage status</a:t>
            </a:r>
            <a:r>
              <a:rPr lang="en">
                <a:solidFill>
                  <a:srgbClr val="052F58"/>
                </a:solidFill>
                <a:latin typeface="Sura"/>
                <a:ea typeface="Sura"/>
                <a:cs typeface="Sura"/>
                <a:sym typeface="Sura"/>
              </a:rPr>
              <a:t> (recoded into categorical dummy variables)</a:t>
            </a:r>
            <a:endParaRPr>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Char char="●"/>
            </a:pPr>
            <a:r>
              <a:rPr b="1" lang="en">
                <a:solidFill>
                  <a:srgbClr val="052F58"/>
                </a:solidFill>
                <a:latin typeface="Sura"/>
                <a:ea typeface="Sura"/>
                <a:cs typeface="Sura"/>
                <a:sym typeface="Sura"/>
              </a:rPr>
              <a:t>Siblings</a:t>
            </a:r>
            <a:r>
              <a:rPr lang="en">
                <a:solidFill>
                  <a:srgbClr val="052F58"/>
                </a:solidFill>
                <a:latin typeface="Sura"/>
                <a:ea typeface="Sura"/>
                <a:cs typeface="Sura"/>
                <a:sym typeface="Sura"/>
              </a:rPr>
              <a:t> (recoded: -0.5 = no siblings, 0.5 = at least one sibling)</a:t>
            </a:r>
            <a:endParaRPr>
              <a:solidFill>
                <a:srgbClr val="052F58"/>
              </a:solidFill>
              <a:latin typeface="Sura"/>
              <a:ea typeface="Sura"/>
              <a:cs typeface="Sura"/>
              <a:sym typeface="Sura"/>
            </a:endParaRPr>
          </a:p>
          <a:p>
            <a:pPr indent="-317500" lvl="0" marL="457200" rtl="0" algn="l">
              <a:lnSpc>
                <a:spcPct val="150000"/>
              </a:lnSpc>
              <a:spcBef>
                <a:spcPts val="0"/>
              </a:spcBef>
              <a:spcAft>
                <a:spcPts val="0"/>
              </a:spcAft>
              <a:buClr>
                <a:srgbClr val="052F58"/>
              </a:buClr>
              <a:buSzPts val="1400"/>
              <a:buChar char="●"/>
            </a:pPr>
            <a:r>
              <a:rPr b="1" lang="en">
                <a:solidFill>
                  <a:srgbClr val="052F58"/>
                </a:solidFill>
                <a:latin typeface="Sura"/>
                <a:ea typeface="Sura"/>
                <a:cs typeface="Sura"/>
                <a:sym typeface="Sura"/>
              </a:rPr>
              <a:t>Importance of marriage</a:t>
            </a:r>
            <a:r>
              <a:rPr lang="en">
                <a:solidFill>
                  <a:srgbClr val="052F58"/>
                </a:solidFill>
                <a:latin typeface="Sura"/>
                <a:ea typeface="Sura"/>
                <a:cs typeface="Sura"/>
                <a:sym typeface="Sura"/>
              </a:rPr>
              <a:t> (single-item rating)</a:t>
            </a:r>
            <a:endParaRPr b="1" sz="1800">
              <a:solidFill>
                <a:srgbClr val="052F58"/>
              </a:solidFill>
              <a:latin typeface="Sura"/>
              <a:ea typeface="Sura"/>
              <a:cs typeface="Sura"/>
              <a:sym typeface="Su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294" name="Shape 294"/>
        <p:cNvGrpSpPr/>
        <p:nvPr/>
      </p:nvGrpSpPr>
      <p:grpSpPr>
        <a:xfrm>
          <a:off x="0" y="0"/>
          <a:ext cx="0" cy="0"/>
          <a:chOff x="0" y="0"/>
          <a:chExt cx="0" cy="0"/>
        </a:xfrm>
      </p:grpSpPr>
      <p:grpSp>
        <p:nvGrpSpPr>
          <p:cNvPr id="295" name="Google Shape;295;p34"/>
          <p:cNvGrpSpPr/>
          <p:nvPr/>
        </p:nvGrpSpPr>
        <p:grpSpPr>
          <a:xfrm>
            <a:off x="514350" y="423939"/>
            <a:ext cx="8115140" cy="4205336"/>
            <a:chOff x="0" y="-47625"/>
            <a:chExt cx="4274726" cy="2215200"/>
          </a:xfrm>
        </p:grpSpPr>
        <p:sp>
          <p:nvSpPr>
            <p:cNvPr id="296" name="Google Shape;296;p34"/>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297" name="Google Shape;297;p34"/>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8" name="Google Shape;298;p34"/>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299" name="Google Shape;299;p34"/>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300" name="Google Shape;300;p34"/>
          <p:cNvGrpSpPr/>
          <p:nvPr/>
        </p:nvGrpSpPr>
        <p:grpSpPr>
          <a:xfrm>
            <a:off x="1648978" y="4353158"/>
            <a:ext cx="5846064" cy="5846064"/>
            <a:chOff x="0" y="0"/>
            <a:chExt cx="812800" cy="812800"/>
          </a:xfrm>
        </p:grpSpPr>
        <p:sp>
          <p:nvSpPr>
            <p:cNvPr id="301" name="Google Shape;301;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2" name="Google Shape;302;p34"/>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03" name="Google Shape;303;p34"/>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04" name="Google Shape;304;p34"/>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05" name="Google Shape;305;p34"/>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06" name="Google Shape;306;p34"/>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07" name="Google Shape;307;p34"/>
          <p:cNvSpPr txBox="1"/>
          <p:nvPr/>
        </p:nvSpPr>
        <p:spPr>
          <a:xfrm>
            <a:off x="2009770" y="615103"/>
            <a:ext cx="5124300" cy="3693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 sz="3000">
                <a:solidFill>
                  <a:srgbClr val="122857"/>
                </a:solidFill>
                <a:latin typeface="Sura"/>
                <a:ea typeface="Sura"/>
                <a:cs typeface="Sura"/>
                <a:sym typeface="Sura"/>
              </a:rPr>
              <a:t>Psychological Predictor</a:t>
            </a:r>
            <a:endParaRPr sz="3000"/>
          </a:p>
        </p:txBody>
      </p:sp>
      <p:sp>
        <p:nvSpPr>
          <p:cNvPr id="308" name="Google Shape;308;p34"/>
          <p:cNvSpPr/>
          <p:nvPr/>
        </p:nvSpPr>
        <p:spPr>
          <a:xfrm flipH="1" rot="10800000">
            <a:off x="2753260" y="1659966"/>
            <a:ext cx="1726592" cy="2063470"/>
          </a:xfrm>
          <a:prstGeom prst="snip1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4"/>
          <p:cNvSpPr/>
          <p:nvPr/>
        </p:nvSpPr>
        <p:spPr>
          <a:xfrm flipH="1">
            <a:off x="4665275" y="1658787"/>
            <a:ext cx="1726592" cy="2063470"/>
          </a:xfrm>
          <a:prstGeom prst="snip1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10" name="Google Shape;310;p34"/>
          <p:cNvSpPr/>
          <p:nvPr/>
        </p:nvSpPr>
        <p:spPr>
          <a:xfrm>
            <a:off x="4574536" y="1555750"/>
            <a:ext cx="1913400" cy="2271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1" name="Google Shape;311;p34"/>
          <p:cNvSpPr txBox="1"/>
          <p:nvPr/>
        </p:nvSpPr>
        <p:spPr>
          <a:xfrm>
            <a:off x="4657799" y="1658775"/>
            <a:ext cx="1726800" cy="2031900"/>
          </a:xfrm>
          <a:prstGeom prst="rect">
            <a:avLst/>
          </a:prstGeom>
          <a:solidFill>
            <a:srgbClr val="FFFAF2"/>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100">
                <a:solidFill>
                  <a:schemeClr val="dk1"/>
                </a:solidFill>
                <a:latin typeface="Sura"/>
                <a:ea typeface="Sura"/>
                <a:cs typeface="Sura"/>
                <a:sym typeface="Sura"/>
              </a:rPr>
              <a:t>Stress &amp; Well-Being</a:t>
            </a:r>
            <a:endParaRPr b="1" sz="1100">
              <a:solidFill>
                <a:schemeClr val="dk1"/>
              </a:solidFill>
              <a:latin typeface="Sura"/>
              <a:ea typeface="Sura"/>
              <a:cs typeface="Sura"/>
              <a:sym typeface="Sura"/>
            </a:endParaRPr>
          </a:p>
          <a:p>
            <a:pPr indent="-120650" lvl="0" marL="114300" rtl="0" algn="l">
              <a:spcBef>
                <a:spcPts val="1000"/>
              </a:spcBef>
              <a:spcAft>
                <a:spcPts val="0"/>
              </a:spcAft>
              <a:buClr>
                <a:schemeClr val="dk1"/>
              </a:buClr>
              <a:buSzPts val="1000"/>
              <a:buFont typeface="Sura"/>
              <a:buChar char="●"/>
            </a:pPr>
            <a:r>
              <a:rPr i="1" lang="en" sz="1000">
                <a:solidFill>
                  <a:schemeClr val="dk1"/>
                </a:solidFill>
                <a:latin typeface="Sura"/>
                <a:ea typeface="Sura"/>
                <a:cs typeface="Sura"/>
                <a:sym typeface="Sura"/>
              </a:rPr>
              <a:t>Perceived Stress Scale</a:t>
            </a:r>
            <a:endParaRPr i="1"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Subjective Well-Being</a:t>
            </a:r>
            <a:r>
              <a:rPr lang="en" sz="1000">
                <a:solidFill>
                  <a:schemeClr val="dk1"/>
                </a:solidFill>
                <a:latin typeface="Sura"/>
                <a:ea typeface="Sura"/>
                <a:cs typeface="Sura"/>
                <a:sym typeface="Sura"/>
              </a:rPr>
              <a:t> (6 items)</a:t>
            </a:r>
            <a:endParaRPr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Disability Identity and Status</a:t>
            </a:r>
            <a:r>
              <a:rPr lang="en" sz="1000">
                <a:solidFill>
                  <a:schemeClr val="dk1"/>
                </a:solidFill>
                <a:latin typeface="Sura"/>
                <a:ea typeface="Sura"/>
                <a:cs typeface="Sura"/>
                <a:sym typeface="Sura"/>
              </a:rPr>
              <a:t> (22 items combined from Q10–Q14)</a:t>
            </a:r>
            <a:endParaRPr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Belief in the “American Dream”</a:t>
            </a:r>
            <a:r>
              <a:rPr lang="en" sz="1000">
                <a:solidFill>
                  <a:schemeClr val="dk1"/>
                </a:solidFill>
                <a:latin typeface="Sura"/>
                <a:ea typeface="Sura"/>
                <a:cs typeface="Sura"/>
                <a:sym typeface="Sura"/>
              </a:rPr>
              <a:t> (2 items)</a:t>
            </a:r>
            <a:endParaRPr b="1" sz="1000">
              <a:solidFill>
                <a:schemeClr val="dk1"/>
              </a:solidFill>
              <a:latin typeface="Sura"/>
              <a:ea typeface="Sura"/>
              <a:cs typeface="Sura"/>
              <a:sym typeface="Sura"/>
            </a:endParaRPr>
          </a:p>
        </p:txBody>
      </p:sp>
      <p:sp>
        <p:nvSpPr>
          <p:cNvPr id="312" name="Google Shape;312;p34"/>
          <p:cNvSpPr/>
          <p:nvPr/>
        </p:nvSpPr>
        <p:spPr>
          <a:xfrm>
            <a:off x="6496413" y="1555763"/>
            <a:ext cx="1913400" cy="2271900"/>
          </a:xfrm>
          <a:prstGeom prst="rect">
            <a:avLst/>
          </a:prstGeom>
          <a:solidFill>
            <a:srgbClr val="12285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3" name="Google Shape;313;p34"/>
          <p:cNvSpPr/>
          <p:nvPr/>
        </p:nvSpPr>
        <p:spPr>
          <a:xfrm flipH="1" rot="10800000">
            <a:off x="6580309" y="1659966"/>
            <a:ext cx="1726592" cy="2063470"/>
          </a:xfrm>
          <a:prstGeom prst="snip1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4"/>
          <p:cNvSpPr txBox="1"/>
          <p:nvPr/>
        </p:nvSpPr>
        <p:spPr>
          <a:xfrm>
            <a:off x="6580300" y="1659975"/>
            <a:ext cx="1726906" cy="2063470"/>
          </a:xfrm>
          <a:prstGeom prst="rect">
            <a:avLst/>
          </a:prstGeom>
          <a:solidFill>
            <a:srgbClr val="FFFAF2"/>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100">
                <a:solidFill>
                  <a:schemeClr val="dk1"/>
                </a:solidFill>
                <a:latin typeface="Sura"/>
                <a:ea typeface="Sura"/>
                <a:cs typeface="Sura"/>
                <a:sym typeface="Sura"/>
              </a:rPr>
              <a:t>Markers of Adulthood</a:t>
            </a:r>
            <a:endParaRPr b="1" sz="1100">
              <a:solidFill>
                <a:schemeClr val="dk1"/>
              </a:solidFill>
              <a:latin typeface="Sura"/>
              <a:ea typeface="Sura"/>
              <a:cs typeface="Sura"/>
              <a:sym typeface="Sura"/>
            </a:endParaRPr>
          </a:p>
          <a:p>
            <a:pPr indent="-120650" lvl="0" marL="114300" rtl="0" algn="l">
              <a:spcBef>
                <a:spcPts val="1000"/>
              </a:spcBef>
              <a:spcAft>
                <a:spcPts val="0"/>
              </a:spcAft>
              <a:buClr>
                <a:schemeClr val="dk1"/>
              </a:buClr>
              <a:buSzPts val="1000"/>
              <a:buFont typeface="Sura"/>
              <a:buChar char="●"/>
            </a:pPr>
            <a:r>
              <a:rPr i="1" lang="en" sz="1000">
                <a:solidFill>
                  <a:schemeClr val="dk1"/>
                </a:solidFill>
                <a:latin typeface="Sura"/>
                <a:ea typeface="Sura"/>
                <a:cs typeface="Sura"/>
                <a:sym typeface="Sura"/>
              </a:rPr>
              <a:t>Achievement</a:t>
            </a:r>
            <a:r>
              <a:rPr lang="en" sz="1000">
                <a:solidFill>
                  <a:schemeClr val="dk1"/>
                </a:solidFill>
                <a:latin typeface="Sura"/>
                <a:ea typeface="Sura"/>
                <a:cs typeface="Sura"/>
                <a:sym typeface="Sura"/>
              </a:rPr>
              <a:t> subscale (20 items)</a:t>
            </a:r>
            <a:endParaRPr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lang="en" sz="1000">
                <a:solidFill>
                  <a:schemeClr val="dk1"/>
                </a:solidFill>
                <a:latin typeface="Sura"/>
                <a:ea typeface="Sura"/>
                <a:cs typeface="Sura"/>
                <a:sym typeface="Sura"/>
              </a:rPr>
              <a:t>Importance subscale (20 item)</a:t>
            </a:r>
            <a:endParaRPr sz="1000">
              <a:solidFill>
                <a:schemeClr val="dk1"/>
              </a:solidFill>
              <a:latin typeface="Sura"/>
              <a:ea typeface="Sura"/>
              <a:cs typeface="Sura"/>
              <a:sym typeface="Sura"/>
            </a:endParaRPr>
          </a:p>
        </p:txBody>
      </p:sp>
      <p:sp>
        <p:nvSpPr>
          <p:cNvPr id="315" name="Google Shape;315;p34"/>
          <p:cNvSpPr/>
          <p:nvPr/>
        </p:nvSpPr>
        <p:spPr>
          <a:xfrm>
            <a:off x="2649788" y="1555750"/>
            <a:ext cx="1913400" cy="2271900"/>
          </a:xfrm>
          <a:prstGeom prst="rect">
            <a:avLst/>
          </a:prstGeom>
          <a:solidFill>
            <a:srgbClr val="12285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6" name="Google Shape;316;p34"/>
          <p:cNvSpPr txBox="1"/>
          <p:nvPr/>
        </p:nvSpPr>
        <p:spPr>
          <a:xfrm>
            <a:off x="2752550" y="1659510"/>
            <a:ext cx="1726800" cy="2063400"/>
          </a:xfrm>
          <a:prstGeom prst="rect">
            <a:avLst/>
          </a:prstGeom>
          <a:solidFill>
            <a:srgbClr val="FFFAF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Sura"/>
                <a:ea typeface="Sura"/>
                <a:cs typeface="Sura"/>
                <a:sym typeface="Sura"/>
              </a:rPr>
              <a:t>Social &amp; </a:t>
            </a:r>
            <a:r>
              <a:rPr b="1" lang="en" sz="1100">
                <a:solidFill>
                  <a:schemeClr val="dk1"/>
                </a:solidFill>
                <a:latin typeface="Sura"/>
                <a:ea typeface="Sura"/>
                <a:cs typeface="Sura"/>
                <a:sym typeface="Sura"/>
              </a:rPr>
              <a:t>Interpersonal</a:t>
            </a:r>
            <a:r>
              <a:rPr b="1" lang="en" sz="1100">
                <a:solidFill>
                  <a:schemeClr val="dk1"/>
                </a:solidFill>
                <a:latin typeface="Sura"/>
                <a:ea typeface="Sura"/>
                <a:cs typeface="Sura"/>
                <a:sym typeface="Sura"/>
              </a:rPr>
              <a:t> Factor</a:t>
            </a:r>
            <a:endParaRPr sz="1100">
              <a:solidFill>
                <a:schemeClr val="dk1"/>
              </a:solidFill>
              <a:latin typeface="Sura"/>
              <a:ea typeface="Sura"/>
              <a:cs typeface="Sura"/>
              <a:sym typeface="Sura"/>
            </a:endParaRPr>
          </a:p>
          <a:p>
            <a:pPr indent="-120650" lvl="0" marL="114300" rtl="0" algn="l">
              <a:spcBef>
                <a:spcPts val="1000"/>
              </a:spcBef>
              <a:spcAft>
                <a:spcPts val="0"/>
              </a:spcAft>
              <a:buClr>
                <a:schemeClr val="dk1"/>
              </a:buClr>
              <a:buSzPts val="1000"/>
              <a:buFont typeface="Times New Roman"/>
              <a:buChar char="●"/>
            </a:pPr>
            <a:r>
              <a:rPr i="1" lang="en" sz="1000">
                <a:solidFill>
                  <a:schemeClr val="dk1"/>
                </a:solidFill>
                <a:latin typeface="Times New Roman"/>
                <a:ea typeface="Times New Roman"/>
                <a:cs typeface="Times New Roman"/>
                <a:sym typeface="Times New Roman"/>
              </a:rPr>
              <a:t>Perceived Social Support</a:t>
            </a:r>
            <a:r>
              <a:rPr lang="en" sz="1000">
                <a:solidFill>
                  <a:schemeClr val="dk1"/>
                </a:solidFill>
                <a:latin typeface="Times New Roman"/>
                <a:ea typeface="Times New Roman"/>
                <a:cs typeface="Times New Roman"/>
                <a:sym typeface="Times New Roman"/>
              </a:rPr>
              <a:t> (12 items)</a:t>
            </a:r>
            <a:endParaRPr sz="1000">
              <a:solidFill>
                <a:schemeClr val="dk1"/>
              </a:solidFill>
              <a:latin typeface="Times New Roman"/>
              <a:ea typeface="Times New Roman"/>
              <a:cs typeface="Times New Roman"/>
              <a:sym typeface="Times New Roman"/>
            </a:endParaRPr>
          </a:p>
          <a:p>
            <a:pPr indent="-120650" lvl="0" marL="114300" rtl="0" algn="l">
              <a:spcBef>
                <a:spcPts val="0"/>
              </a:spcBef>
              <a:spcAft>
                <a:spcPts val="0"/>
              </a:spcAft>
              <a:buClr>
                <a:schemeClr val="dk1"/>
              </a:buClr>
              <a:buSzPts val="1000"/>
              <a:buFont typeface="Times New Roman"/>
              <a:buChar char="●"/>
            </a:pPr>
            <a:r>
              <a:rPr i="1" lang="en" sz="1000">
                <a:solidFill>
                  <a:schemeClr val="dk1"/>
                </a:solidFill>
                <a:latin typeface="Times New Roman"/>
                <a:ea typeface="Times New Roman"/>
                <a:cs typeface="Times New Roman"/>
                <a:sym typeface="Times New Roman"/>
              </a:rPr>
              <a:t>Need to Belong</a:t>
            </a:r>
            <a:r>
              <a:rPr lang="en" sz="1000">
                <a:solidFill>
                  <a:schemeClr val="dk1"/>
                </a:solidFill>
                <a:latin typeface="Times New Roman"/>
                <a:ea typeface="Times New Roman"/>
                <a:cs typeface="Times New Roman"/>
                <a:sym typeface="Times New Roman"/>
              </a:rPr>
              <a:t> (10 items)</a:t>
            </a:r>
            <a:endParaRPr sz="1000">
              <a:solidFill>
                <a:schemeClr val="dk1"/>
              </a:solidFill>
              <a:latin typeface="Times New Roman"/>
              <a:ea typeface="Times New Roman"/>
              <a:cs typeface="Times New Roman"/>
              <a:sym typeface="Times New Roman"/>
            </a:endParaRPr>
          </a:p>
          <a:p>
            <a:pPr indent="-120650" lvl="0" marL="114300" rtl="0" algn="l">
              <a:spcBef>
                <a:spcPts val="0"/>
              </a:spcBef>
              <a:spcAft>
                <a:spcPts val="0"/>
              </a:spcAft>
              <a:buClr>
                <a:schemeClr val="dk1"/>
              </a:buClr>
              <a:buSzPts val="1000"/>
              <a:buFont typeface="Times New Roman"/>
              <a:buChar char="●"/>
            </a:pPr>
            <a:r>
              <a:rPr i="1" lang="en" sz="1000">
                <a:solidFill>
                  <a:schemeClr val="dk1"/>
                </a:solidFill>
                <a:latin typeface="Times New Roman"/>
                <a:ea typeface="Times New Roman"/>
                <a:cs typeface="Times New Roman"/>
                <a:sym typeface="Times New Roman"/>
              </a:rPr>
              <a:t>Interpersonal Transgressions</a:t>
            </a:r>
            <a:r>
              <a:rPr lang="en" sz="1000">
                <a:solidFill>
                  <a:schemeClr val="dk1"/>
                </a:solidFill>
                <a:latin typeface="Times New Roman"/>
                <a:ea typeface="Times New Roman"/>
                <a:cs typeface="Times New Roman"/>
                <a:sym typeface="Times New Roman"/>
              </a:rPr>
              <a:t> (4 items)</a:t>
            </a:r>
            <a:endParaRPr sz="1000">
              <a:solidFill>
                <a:schemeClr val="dk1"/>
              </a:solidFill>
              <a:latin typeface="Times New Roman"/>
              <a:ea typeface="Times New Roman"/>
              <a:cs typeface="Times New Roman"/>
              <a:sym typeface="Times New Roman"/>
            </a:endParaRPr>
          </a:p>
          <a:p>
            <a:pPr indent="-120650" lvl="0" marL="114300" rtl="0" algn="l">
              <a:spcBef>
                <a:spcPts val="0"/>
              </a:spcBef>
              <a:spcAft>
                <a:spcPts val="0"/>
              </a:spcAft>
              <a:buClr>
                <a:schemeClr val="dk1"/>
              </a:buClr>
              <a:buSzPts val="1000"/>
              <a:buFont typeface="Times New Roman"/>
              <a:buChar char="●"/>
            </a:pPr>
            <a:r>
              <a:rPr i="1" lang="en" sz="1000">
                <a:solidFill>
                  <a:schemeClr val="dk1"/>
                </a:solidFill>
                <a:latin typeface="Times New Roman"/>
                <a:ea typeface="Times New Roman"/>
                <a:cs typeface="Times New Roman"/>
                <a:sym typeface="Times New Roman"/>
              </a:rPr>
              <a:t>Social Media Use</a:t>
            </a:r>
            <a:r>
              <a:rPr lang="en" sz="1000">
                <a:solidFill>
                  <a:schemeClr val="dk1"/>
                </a:solidFill>
                <a:latin typeface="Times New Roman"/>
                <a:ea typeface="Times New Roman"/>
                <a:cs typeface="Times New Roman"/>
                <a:sym typeface="Times New Roman"/>
              </a:rPr>
              <a:t>: Maintaining / Making connections, Seeking information</a:t>
            </a:r>
            <a:endParaRPr i="1" sz="1000">
              <a:solidFill>
                <a:schemeClr val="dk1"/>
              </a:solidFill>
              <a:latin typeface="Sura"/>
              <a:ea typeface="Sura"/>
              <a:cs typeface="Sura"/>
              <a:sym typeface="Sura"/>
            </a:endParaRPr>
          </a:p>
        </p:txBody>
      </p:sp>
      <p:sp>
        <p:nvSpPr>
          <p:cNvPr id="317" name="Google Shape;317;p34"/>
          <p:cNvSpPr/>
          <p:nvPr/>
        </p:nvSpPr>
        <p:spPr>
          <a:xfrm flipH="1">
            <a:off x="838226" y="1658787"/>
            <a:ext cx="1726592" cy="2063470"/>
          </a:xfrm>
          <a:prstGeom prst="snip1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4"/>
          <p:cNvSpPr/>
          <p:nvPr/>
        </p:nvSpPr>
        <p:spPr>
          <a:xfrm>
            <a:off x="731600" y="1555775"/>
            <a:ext cx="1913400" cy="22719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9" name="Google Shape;319;p34"/>
          <p:cNvSpPr txBox="1"/>
          <p:nvPr/>
        </p:nvSpPr>
        <p:spPr>
          <a:xfrm>
            <a:off x="825045" y="1637072"/>
            <a:ext cx="1726500" cy="2063400"/>
          </a:xfrm>
          <a:prstGeom prst="rect">
            <a:avLst/>
          </a:prstGeom>
          <a:solidFill>
            <a:srgbClr val="FFFAF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Sura"/>
                <a:ea typeface="Sura"/>
                <a:cs typeface="Sura"/>
                <a:sym typeface="Sura"/>
              </a:rPr>
              <a:t>Individual Differences &amp; Personality</a:t>
            </a:r>
            <a:endParaRPr sz="1100">
              <a:solidFill>
                <a:schemeClr val="dk1"/>
              </a:solidFill>
              <a:latin typeface="Sura"/>
              <a:ea typeface="Sura"/>
              <a:cs typeface="Sura"/>
              <a:sym typeface="Sura"/>
            </a:endParaRPr>
          </a:p>
          <a:p>
            <a:pPr indent="-120650" lvl="0" marL="114300" rtl="0" algn="l">
              <a:spcBef>
                <a:spcPts val="1000"/>
              </a:spcBef>
              <a:spcAft>
                <a:spcPts val="0"/>
              </a:spcAft>
              <a:buClr>
                <a:schemeClr val="dk1"/>
              </a:buClr>
              <a:buSzPts val="1000"/>
              <a:buFont typeface="Sura"/>
              <a:buChar char="●"/>
            </a:pPr>
            <a:r>
              <a:rPr i="1" lang="en" sz="1000">
                <a:solidFill>
                  <a:schemeClr val="dk1"/>
                </a:solidFill>
                <a:latin typeface="Sura"/>
                <a:ea typeface="Sura"/>
                <a:cs typeface="Sura"/>
                <a:sym typeface="Sura"/>
              </a:rPr>
              <a:t>IDEA-8</a:t>
            </a:r>
            <a:r>
              <a:rPr lang="en" sz="1000">
                <a:solidFill>
                  <a:schemeClr val="dk1"/>
                </a:solidFill>
                <a:latin typeface="Sura"/>
                <a:ea typeface="Sura"/>
                <a:cs typeface="Sura"/>
                <a:sym typeface="Sura"/>
              </a:rPr>
              <a:t>: Identity exploration and development</a:t>
            </a:r>
            <a:endParaRPr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NPI-13</a:t>
            </a:r>
            <a:r>
              <a:rPr lang="en" sz="1000">
                <a:solidFill>
                  <a:schemeClr val="dk1"/>
                </a:solidFill>
                <a:latin typeface="Sura"/>
                <a:ea typeface="Sura"/>
                <a:cs typeface="Sura"/>
                <a:sym typeface="Sura"/>
              </a:rPr>
              <a:t>: Narcissism</a:t>
            </a:r>
            <a:endParaRPr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Interpersonal Exploitativeness</a:t>
            </a:r>
            <a:r>
              <a:rPr lang="en" sz="1000">
                <a:solidFill>
                  <a:schemeClr val="dk1"/>
                </a:solidFill>
                <a:latin typeface="Sura"/>
                <a:ea typeface="Sura"/>
                <a:cs typeface="Sura"/>
                <a:sym typeface="Sura"/>
              </a:rPr>
              <a:t> (3 items)</a:t>
            </a:r>
            <a:endParaRPr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Self-Efficacy / Competence</a:t>
            </a:r>
            <a:endParaRPr i="1" sz="1000">
              <a:solidFill>
                <a:schemeClr val="dk1"/>
              </a:solidFill>
              <a:latin typeface="Sura"/>
              <a:ea typeface="Sura"/>
              <a:cs typeface="Sura"/>
              <a:sym typeface="Sura"/>
            </a:endParaRPr>
          </a:p>
          <a:p>
            <a:pPr indent="-120650" lvl="0" marL="114300" rtl="0" algn="l">
              <a:spcBef>
                <a:spcPts val="0"/>
              </a:spcBef>
              <a:spcAft>
                <a:spcPts val="0"/>
              </a:spcAft>
              <a:buClr>
                <a:schemeClr val="dk1"/>
              </a:buClr>
              <a:buSzPts val="1000"/>
              <a:buFont typeface="Sura"/>
              <a:buChar char="●"/>
            </a:pPr>
            <a:r>
              <a:rPr i="1" lang="en" sz="1000">
                <a:solidFill>
                  <a:schemeClr val="dk1"/>
                </a:solidFill>
                <a:latin typeface="Sura"/>
                <a:ea typeface="Sura"/>
                <a:cs typeface="Sura"/>
                <a:sym typeface="Sura"/>
              </a:rPr>
              <a:t>Mindfulness Scale</a:t>
            </a:r>
            <a:endParaRPr sz="1000">
              <a:solidFill>
                <a:schemeClr val="dk1"/>
              </a:solidFill>
              <a:latin typeface="Sura"/>
              <a:ea typeface="Sura"/>
              <a:cs typeface="Sura"/>
              <a:sym typeface="Su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323" name="Shape 323"/>
        <p:cNvGrpSpPr/>
        <p:nvPr/>
      </p:nvGrpSpPr>
      <p:grpSpPr>
        <a:xfrm>
          <a:off x="0" y="0"/>
          <a:ext cx="0" cy="0"/>
          <a:chOff x="0" y="0"/>
          <a:chExt cx="0" cy="0"/>
        </a:xfrm>
      </p:grpSpPr>
      <p:grpSp>
        <p:nvGrpSpPr>
          <p:cNvPr id="324" name="Google Shape;324;p35"/>
          <p:cNvGrpSpPr/>
          <p:nvPr/>
        </p:nvGrpSpPr>
        <p:grpSpPr>
          <a:xfrm>
            <a:off x="514350" y="423939"/>
            <a:ext cx="8115140" cy="4205336"/>
            <a:chOff x="0" y="-47625"/>
            <a:chExt cx="4274726" cy="2215200"/>
          </a:xfrm>
        </p:grpSpPr>
        <p:sp>
          <p:nvSpPr>
            <p:cNvPr id="325" name="Google Shape;325;p35"/>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326" name="Google Shape;326;p35"/>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27" name="Google Shape;327;p35"/>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328" name="Google Shape;328;p35"/>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329" name="Google Shape;329;p35"/>
          <p:cNvGrpSpPr/>
          <p:nvPr/>
        </p:nvGrpSpPr>
        <p:grpSpPr>
          <a:xfrm>
            <a:off x="1648978" y="4353158"/>
            <a:ext cx="5846064" cy="5846064"/>
            <a:chOff x="0" y="0"/>
            <a:chExt cx="812800" cy="812800"/>
          </a:xfrm>
        </p:grpSpPr>
        <p:sp>
          <p:nvSpPr>
            <p:cNvPr id="330" name="Google Shape;330;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1" name="Google Shape;331;p35"/>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32" name="Google Shape;332;p35"/>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33" name="Google Shape;333;p35"/>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34" name="Google Shape;334;p35"/>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35" name="Google Shape;335;p35"/>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36" name="Google Shape;336;p35"/>
          <p:cNvSpPr txBox="1"/>
          <p:nvPr/>
        </p:nvSpPr>
        <p:spPr>
          <a:xfrm>
            <a:off x="2009770" y="624915"/>
            <a:ext cx="5124300" cy="3693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 sz="3000">
                <a:solidFill>
                  <a:srgbClr val="122857"/>
                </a:solidFill>
                <a:latin typeface="Sura"/>
                <a:ea typeface="Sura"/>
                <a:cs typeface="Sura"/>
                <a:sym typeface="Sura"/>
              </a:rPr>
              <a:t>PHQ-15 outcomes</a:t>
            </a:r>
            <a:endParaRPr sz="3000"/>
          </a:p>
        </p:txBody>
      </p:sp>
      <p:graphicFrame>
        <p:nvGraphicFramePr>
          <p:cNvPr id="337" name="Google Shape;337;p35"/>
          <p:cNvGraphicFramePr/>
          <p:nvPr/>
        </p:nvGraphicFramePr>
        <p:xfrm>
          <a:off x="850113" y="1118490"/>
          <a:ext cx="3000000" cy="3000000"/>
        </p:xfrm>
        <a:graphic>
          <a:graphicData uri="http://schemas.openxmlformats.org/drawingml/2006/table">
            <a:tbl>
              <a:tblPr>
                <a:noFill/>
                <a:tableStyleId>{8ADF39EC-1803-4F0C-95F4-EEB6FED43408}</a:tableStyleId>
              </a:tblPr>
              <a:tblGrid>
                <a:gridCol w="827450"/>
                <a:gridCol w="2342025"/>
                <a:gridCol w="836850"/>
                <a:gridCol w="3242550"/>
              </a:tblGrid>
              <a:tr h="378825">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Item No.</a:t>
                      </a:r>
                      <a:endParaRPr b="1"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000000"/>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Symptom</a:t>
                      </a:r>
                      <a:endParaRPr b="1"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000000"/>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b="1" lang="en" sz="1300">
                          <a:solidFill>
                            <a:srgbClr val="000000"/>
                          </a:solidFill>
                          <a:latin typeface="Times New Roman"/>
                          <a:ea typeface="Times New Roman"/>
                          <a:cs typeface="Times New Roman"/>
                          <a:sym typeface="Times New Roman"/>
                        </a:rPr>
                        <a:t>Item No.</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000000"/>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b="1" lang="en" sz="1300">
                          <a:solidFill>
                            <a:srgbClr val="000000"/>
                          </a:solidFill>
                          <a:latin typeface="Times New Roman"/>
                          <a:ea typeface="Times New Roman"/>
                          <a:cs typeface="Times New Roman"/>
                          <a:sym typeface="Times New Roman"/>
                        </a:rPr>
                        <a:t>Symptom</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000000"/>
                      </a:solidFill>
                      <a:prstDash val="solid"/>
                      <a:round/>
                      <a:headEnd len="sm" w="sm" type="none"/>
                      <a:tailEnd len="sm" w="sm" type="none"/>
                    </a:lnB>
                    <a:solidFill>
                      <a:srgbClr val="9FC5E8"/>
                    </a:solidFill>
                  </a:tcPr>
                </a:tc>
              </a:tr>
              <a:tr h="378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Stomach pain</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8</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rgbClr val="1F1F1F"/>
                          </a:solidFill>
                          <a:latin typeface="Times New Roman"/>
                          <a:ea typeface="Times New Roman"/>
                          <a:cs typeface="Times New Roman"/>
                          <a:sym typeface="Times New Roman"/>
                        </a:rPr>
                        <a:t>Feeling your heart pound or race</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78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2</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Back pain</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9</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Shortness of breath</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82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3</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rgbClr val="1F1F1F"/>
                          </a:solidFill>
                          <a:latin typeface="Times New Roman"/>
                          <a:ea typeface="Times New Roman"/>
                          <a:cs typeface="Times New Roman"/>
                          <a:sym typeface="Times New Roman"/>
                        </a:rPr>
                        <a:t>Pain in your arms, legs, or joints (knees, hips, etc).</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10</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solidFill>
                            <a:srgbClr val="1F1F1F"/>
                          </a:solidFill>
                          <a:latin typeface="Times New Roman"/>
                          <a:ea typeface="Times New Roman"/>
                          <a:cs typeface="Times New Roman"/>
                          <a:sym typeface="Times New Roman"/>
                        </a:rPr>
                        <a:t>Constipation, loose bowels, or diarrhea</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4</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Headache</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11</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rgbClr val="1F1F1F"/>
                          </a:solidFill>
                          <a:latin typeface="Times New Roman"/>
                          <a:ea typeface="Times New Roman"/>
                          <a:cs typeface="Times New Roman"/>
                          <a:sym typeface="Times New Roman"/>
                        </a:rPr>
                        <a:t>Nausea, gas, or indigestion</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5</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Chest pain</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12</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Fatigue</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6</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Dizziness</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13</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Trouble sleeping</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88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7</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Fainting spells</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14/15</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Not included</a:t>
                      </a:r>
                      <a:endParaRPr sz="13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341" name="Shape 341"/>
        <p:cNvGrpSpPr/>
        <p:nvPr/>
      </p:nvGrpSpPr>
      <p:grpSpPr>
        <a:xfrm>
          <a:off x="0" y="0"/>
          <a:ext cx="0" cy="0"/>
          <a:chOff x="0" y="0"/>
          <a:chExt cx="0" cy="0"/>
        </a:xfrm>
      </p:grpSpPr>
      <p:grpSp>
        <p:nvGrpSpPr>
          <p:cNvPr id="342" name="Google Shape;342;p36"/>
          <p:cNvGrpSpPr/>
          <p:nvPr/>
        </p:nvGrpSpPr>
        <p:grpSpPr>
          <a:xfrm>
            <a:off x="514350" y="423939"/>
            <a:ext cx="8115140" cy="4205336"/>
            <a:chOff x="0" y="-47625"/>
            <a:chExt cx="4274726" cy="2215200"/>
          </a:xfrm>
        </p:grpSpPr>
        <p:sp>
          <p:nvSpPr>
            <p:cNvPr id="343" name="Google Shape;343;p36"/>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344" name="Google Shape;344;p36"/>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45" name="Google Shape;345;p36"/>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346" name="Google Shape;346;p36"/>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347" name="Google Shape;347;p36"/>
          <p:cNvGrpSpPr/>
          <p:nvPr/>
        </p:nvGrpSpPr>
        <p:grpSpPr>
          <a:xfrm>
            <a:off x="1648978" y="4353158"/>
            <a:ext cx="5846064" cy="5846064"/>
            <a:chOff x="0" y="0"/>
            <a:chExt cx="812800" cy="812800"/>
          </a:xfrm>
        </p:grpSpPr>
        <p:sp>
          <p:nvSpPr>
            <p:cNvPr id="348" name="Google Shape;348;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9" name="Google Shape;349;p36"/>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50" name="Google Shape;350;p36"/>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51" name="Google Shape;351;p36"/>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52" name="Google Shape;352;p36"/>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53" name="Google Shape;353;p36"/>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54" name="Google Shape;354;p36"/>
          <p:cNvSpPr txBox="1"/>
          <p:nvPr/>
        </p:nvSpPr>
        <p:spPr>
          <a:xfrm>
            <a:off x="1834863" y="1694555"/>
            <a:ext cx="5474100" cy="1954800"/>
          </a:xfrm>
          <a:prstGeom prst="rect">
            <a:avLst/>
          </a:prstGeom>
          <a:noFill/>
          <a:ln>
            <a:noFill/>
          </a:ln>
        </p:spPr>
        <p:txBody>
          <a:bodyPr anchorCtr="0" anchor="t" bIns="0" lIns="0" spcFirstLastPara="1" rIns="0" wrap="square" tIns="0">
            <a:spAutoFit/>
          </a:bodyPr>
          <a:lstStyle/>
          <a:p>
            <a:pPr indent="-330200" lvl="0" marL="457200" marR="0" rtl="0" algn="just">
              <a:lnSpc>
                <a:spcPct val="139993"/>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Handling missing data (simple imputation)</a:t>
            </a:r>
            <a:endParaRPr sz="1600">
              <a:solidFill>
                <a:srgbClr val="122857"/>
              </a:solidFill>
              <a:latin typeface="Sura"/>
              <a:ea typeface="Sura"/>
              <a:cs typeface="Sura"/>
              <a:sym typeface="Sura"/>
            </a:endParaRPr>
          </a:p>
          <a:p>
            <a:pPr indent="-330200" lvl="0" marL="457200" marR="0" rtl="0" algn="just">
              <a:lnSpc>
                <a:spcPct val="139993"/>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Encoding categorical variables (OneHotEncoder)</a:t>
            </a:r>
            <a:endParaRPr sz="1600">
              <a:solidFill>
                <a:srgbClr val="122857"/>
              </a:solidFill>
              <a:latin typeface="Sura"/>
              <a:ea typeface="Sura"/>
              <a:cs typeface="Sura"/>
              <a:sym typeface="Sura"/>
            </a:endParaRPr>
          </a:p>
          <a:p>
            <a:pPr indent="-330200" lvl="0" marL="457200" marR="0" rtl="0" algn="just">
              <a:lnSpc>
                <a:spcPct val="139993"/>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Scaling numeric variables (StandardScaler)</a:t>
            </a:r>
            <a:endParaRPr sz="1600">
              <a:solidFill>
                <a:srgbClr val="122857"/>
              </a:solidFill>
              <a:latin typeface="Sura"/>
              <a:ea typeface="Sura"/>
              <a:cs typeface="Sura"/>
              <a:sym typeface="Sura"/>
            </a:endParaRPr>
          </a:p>
          <a:p>
            <a:pPr indent="-330200" lvl="0" marL="457200" marR="0" rtl="0" algn="just">
              <a:lnSpc>
                <a:spcPct val="139993"/>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Feature Engineering</a:t>
            </a:r>
            <a:endParaRPr sz="1600">
              <a:solidFill>
                <a:srgbClr val="122857"/>
              </a:solidFill>
              <a:latin typeface="Sura"/>
              <a:ea typeface="Sura"/>
              <a:cs typeface="Sura"/>
              <a:sym typeface="Sura"/>
            </a:endParaRPr>
          </a:p>
          <a:p>
            <a:pPr indent="-330200" lvl="0" marL="457200" marR="0" rtl="0" algn="just">
              <a:lnSpc>
                <a:spcPct val="139993"/>
              </a:lnSpc>
              <a:spcBef>
                <a:spcPts val="0"/>
              </a:spcBef>
              <a:spcAft>
                <a:spcPts val="0"/>
              </a:spcAft>
              <a:buClr>
                <a:srgbClr val="122857"/>
              </a:buClr>
              <a:buSzPts val="1600"/>
              <a:buFont typeface="Sura"/>
              <a:buChar char="●"/>
            </a:pPr>
            <a:r>
              <a:rPr lang="en" sz="1600">
                <a:solidFill>
                  <a:srgbClr val="122857"/>
                </a:solidFill>
                <a:latin typeface="Sura"/>
                <a:ea typeface="Sura"/>
                <a:cs typeface="Sura"/>
                <a:sym typeface="Sura"/>
              </a:rPr>
              <a:t>Train/test split with stratification</a:t>
            </a:r>
            <a:endParaRPr sz="1600">
              <a:solidFill>
                <a:srgbClr val="122857"/>
              </a:solidFill>
              <a:latin typeface="Sura"/>
              <a:ea typeface="Sura"/>
              <a:cs typeface="Sura"/>
              <a:sym typeface="Sura"/>
            </a:endParaRPr>
          </a:p>
          <a:p>
            <a:pPr indent="0" lvl="0" marL="457200" marR="0" rtl="0" algn="just">
              <a:lnSpc>
                <a:spcPct val="139993"/>
              </a:lnSpc>
              <a:spcBef>
                <a:spcPts val="0"/>
              </a:spcBef>
              <a:spcAft>
                <a:spcPts val="0"/>
              </a:spcAft>
              <a:buNone/>
            </a:pPr>
            <a:r>
              <a:t/>
            </a:r>
            <a:endParaRPr sz="1500">
              <a:solidFill>
                <a:srgbClr val="122857"/>
              </a:solidFill>
            </a:endParaRPr>
          </a:p>
        </p:txBody>
      </p:sp>
      <p:sp>
        <p:nvSpPr>
          <p:cNvPr id="355" name="Google Shape;355;p36"/>
          <p:cNvSpPr txBox="1"/>
          <p:nvPr/>
        </p:nvSpPr>
        <p:spPr>
          <a:xfrm>
            <a:off x="1437725" y="863300"/>
            <a:ext cx="6269700" cy="4926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rPr b="1" lang="en" sz="4000">
                <a:solidFill>
                  <a:srgbClr val="122857"/>
                </a:solidFill>
                <a:latin typeface="Sura"/>
                <a:ea typeface="Sura"/>
                <a:cs typeface="Sura"/>
                <a:sym typeface="Sura"/>
              </a:rPr>
              <a:t>Methods: Preprocessing</a:t>
            </a:r>
            <a:endParaRPr sz="4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359" name="Shape 359"/>
        <p:cNvGrpSpPr/>
        <p:nvPr/>
      </p:nvGrpSpPr>
      <p:grpSpPr>
        <a:xfrm>
          <a:off x="0" y="0"/>
          <a:ext cx="0" cy="0"/>
          <a:chOff x="0" y="0"/>
          <a:chExt cx="0" cy="0"/>
        </a:xfrm>
      </p:grpSpPr>
      <p:sp>
        <p:nvSpPr>
          <p:cNvPr id="360" name="Google Shape;360;p37"/>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361" name="Google Shape;361;p37"/>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362" name="Google Shape;362;p37"/>
          <p:cNvGrpSpPr/>
          <p:nvPr/>
        </p:nvGrpSpPr>
        <p:grpSpPr>
          <a:xfrm>
            <a:off x="1648978" y="4353158"/>
            <a:ext cx="5846064" cy="5846064"/>
            <a:chOff x="0" y="0"/>
            <a:chExt cx="812800" cy="812800"/>
          </a:xfrm>
        </p:grpSpPr>
        <p:sp>
          <p:nvSpPr>
            <p:cNvPr id="363" name="Google Shape;363;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4" name="Google Shape;364;p37"/>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65" name="Google Shape;365;p37"/>
          <p:cNvGrpSpPr/>
          <p:nvPr/>
        </p:nvGrpSpPr>
        <p:grpSpPr>
          <a:xfrm>
            <a:off x="514350" y="423939"/>
            <a:ext cx="8115140" cy="4205336"/>
            <a:chOff x="0" y="-47625"/>
            <a:chExt cx="4274726" cy="2215200"/>
          </a:xfrm>
        </p:grpSpPr>
        <p:sp>
          <p:nvSpPr>
            <p:cNvPr id="366" name="Google Shape;366;p37"/>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367" name="Google Shape;367;p37"/>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68" name="Google Shape;368;p37"/>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69" name="Google Shape;369;p37"/>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70" name="Google Shape;370;p37"/>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71" name="Google Shape;371;p37"/>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72" name="Google Shape;372;p37"/>
          <p:cNvSpPr txBox="1"/>
          <p:nvPr/>
        </p:nvSpPr>
        <p:spPr>
          <a:xfrm>
            <a:off x="1437725" y="1196650"/>
            <a:ext cx="6606000" cy="3678600"/>
          </a:xfrm>
          <a:prstGeom prst="rect">
            <a:avLst/>
          </a:prstGeom>
          <a:noFill/>
          <a:ln>
            <a:noFill/>
          </a:ln>
        </p:spPr>
        <p:txBody>
          <a:bodyPr anchorCtr="0" anchor="t" bIns="0" lIns="0" spcFirstLastPara="1" rIns="0" wrap="square" tIns="0">
            <a:spAutoFit/>
          </a:bodyPr>
          <a:lstStyle/>
          <a:p>
            <a:pPr indent="-330200" lvl="0" marL="457200" marR="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Logistic regression (GLM net)</a:t>
            </a:r>
            <a:endParaRPr sz="1600">
              <a:solidFill>
                <a:schemeClr val="dk2"/>
              </a:solidFill>
              <a:latin typeface="Sura"/>
              <a:ea typeface="Sura"/>
              <a:cs typeface="Sura"/>
              <a:sym typeface="Sura"/>
            </a:endParaRPr>
          </a:p>
          <a:p>
            <a:pPr indent="-330200" lvl="0" marL="457200" marR="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K-nearest neighbors</a:t>
            </a:r>
            <a:endParaRPr sz="1600">
              <a:solidFill>
                <a:schemeClr val="dk2"/>
              </a:solidFill>
              <a:latin typeface="Sura"/>
              <a:ea typeface="Sura"/>
              <a:cs typeface="Sura"/>
              <a:sym typeface="Sura"/>
            </a:endParaRPr>
          </a:p>
          <a:p>
            <a:pPr indent="-323850" lvl="0" marL="457200" marR="0" rtl="0" algn="just">
              <a:lnSpc>
                <a:spcPct val="139993"/>
              </a:lnSpc>
              <a:spcBef>
                <a:spcPts val="0"/>
              </a:spcBef>
              <a:spcAft>
                <a:spcPts val="0"/>
              </a:spcAft>
              <a:buClr>
                <a:schemeClr val="dk2"/>
              </a:buClr>
              <a:buSzPts val="1500"/>
              <a:buFont typeface="Sura"/>
              <a:buChar char="●"/>
            </a:pPr>
            <a:r>
              <a:rPr lang="en" sz="1600">
                <a:solidFill>
                  <a:schemeClr val="dk2"/>
                </a:solidFill>
                <a:latin typeface="Sura"/>
                <a:ea typeface="Sura"/>
                <a:cs typeface="Sura"/>
                <a:sym typeface="Sura"/>
              </a:rPr>
              <a:t> Tree-based</a:t>
            </a:r>
            <a:r>
              <a:rPr lang="en" sz="1300">
                <a:solidFill>
                  <a:schemeClr val="dk2"/>
                </a:solidFill>
                <a:latin typeface="Sura"/>
                <a:ea typeface="Sura"/>
                <a:cs typeface="Sura"/>
                <a:sym typeface="Sura"/>
              </a:rPr>
              <a:t> </a:t>
            </a:r>
            <a:r>
              <a:rPr lang="en" sz="1600">
                <a:solidFill>
                  <a:schemeClr val="dk2"/>
                </a:solidFill>
                <a:latin typeface="Sura"/>
                <a:ea typeface="Sura"/>
                <a:cs typeface="Sura"/>
                <a:sym typeface="Sura"/>
              </a:rPr>
              <a:t>models:</a:t>
            </a:r>
            <a:endParaRPr sz="1600">
              <a:solidFill>
                <a:schemeClr val="dk2"/>
              </a:solidFill>
              <a:latin typeface="Sura"/>
              <a:ea typeface="Sura"/>
              <a:cs typeface="Sura"/>
              <a:sym typeface="Sura"/>
            </a:endParaRPr>
          </a:p>
          <a:p>
            <a:pPr indent="0" lvl="0" marL="457200" marR="0" rtl="0" algn="just">
              <a:lnSpc>
                <a:spcPct val="139993"/>
              </a:lnSpc>
              <a:spcBef>
                <a:spcPts val="0"/>
              </a:spcBef>
              <a:spcAft>
                <a:spcPts val="0"/>
              </a:spcAft>
              <a:buNone/>
            </a:pPr>
            <a:r>
              <a:rPr lang="en" sz="1600">
                <a:solidFill>
                  <a:schemeClr val="dk2"/>
                </a:solidFill>
                <a:latin typeface="Sura"/>
                <a:ea typeface="Sura"/>
                <a:cs typeface="Sura"/>
                <a:sym typeface="Sura"/>
              </a:rPr>
              <a:t>	</a:t>
            </a:r>
            <a:r>
              <a:rPr lang="en" sz="1600">
                <a:solidFill>
                  <a:schemeClr val="dk2"/>
                </a:solidFill>
                <a:latin typeface="Sura"/>
                <a:ea typeface="Sura"/>
                <a:cs typeface="Sura"/>
                <a:sym typeface="Sura"/>
              </a:rPr>
              <a:t>XGboost</a:t>
            </a:r>
            <a:endParaRPr sz="1600">
              <a:solidFill>
                <a:schemeClr val="dk2"/>
              </a:solidFill>
              <a:latin typeface="Sura"/>
              <a:ea typeface="Sura"/>
              <a:cs typeface="Sura"/>
              <a:sym typeface="Sura"/>
            </a:endParaRPr>
          </a:p>
          <a:p>
            <a:pPr indent="-330200" lvl="1" marL="91440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Catboost</a:t>
            </a:r>
            <a:endParaRPr sz="1600">
              <a:solidFill>
                <a:schemeClr val="dk2"/>
              </a:solidFill>
              <a:latin typeface="Sura"/>
              <a:ea typeface="Sura"/>
              <a:cs typeface="Sura"/>
              <a:sym typeface="Sura"/>
            </a:endParaRPr>
          </a:p>
          <a:p>
            <a:pPr indent="-330200" lvl="1" marL="91440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Light Gradient Boosting</a:t>
            </a:r>
            <a:endParaRPr sz="1600">
              <a:solidFill>
                <a:schemeClr val="dk2"/>
              </a:solidFill>
              <a:latin typeface="Sura"/>
              <a:ea typeface="Sura"/>
              <a:cs typeface="Sura"/>
              <a:sym typeface="Sura"/>
            </a:endParaRPr>
          </a:p>
          <a:p>
            <a:pPr indent="-330200" lvl="1" marL="914400" marR="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Random forest</a:t>
            </a:r>
            <a:endParaRPr sz="1600">
              <a:solidFill>
                <a:schemeClr val="dk2"/>
              </a:solidFill>
              <a:latin typeface="Sura"/>
              <a:ea typeface="Sura"/>
              <a:cs typeface="Sura"/>
              <a:sym typeface="Sura"/>
            </a:endParaRPr>
          </a:p>
          <a:p>
            <a:pPr indent="-330200" lvl="1" marL="914400" marR="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Extratree</a:t>
            </a:r>
            <a:endParaRPr sz="1600">
              <a:solidFill>
                <a:schemeClr val="dk2"/>
              </a:solidFill>
              <a:latin typeface="Sura"/>
              <a:ea typeface="Sura"/>
              <a:cs typeface="Sura"/>
              <a:sym typeface="Sura"/>
            </a:endParaRPr>
          </a:p>
          <a:p>
            <a:pPr indent="-323850" lvl="0" marL="457200" marR="0" rtl="0" algn="just">
              <a:lnSpc>
                <a:spcPct val="139993"/>
              </a:lnSpc>
              <a:spcBef>
                <a:spcPts val="0"/>
              </a:spcBef>
              <a:spcAft>
                <a:spcPts val="0"/>
              </a:spcAft>
              <a:buClr>
                <a:schemeClr val="dk2"/>
              </a:buClr>
              <a:buSzPts val="1500"/>
              <a:buFont typeface="Sura"/>
              <a:buChar char="●"/>
            </a:pPr>
            <a:r>
              <a:rPr lang="en" sz="1600">
                <a:solidFill>
                  <a:schemeClr val="dk2"/>
                </a:solidFill>
                <a:latin typeface="Sura"/>
                <a:ea typeface="Sura"/>
                <a:cs typeface="Sura"/>
                <a:sym typeface="Sura"/>
              </a:rPr>
              <a:t>Voting Ensemble (</a:t>
            </a:r>
            <a:r>
              <a:rPr lang="en">
                <a:solidFill>
                  <a:schemeClr val="dk2"/>
                </a:solidFill>
                <a:latin typeface="Sura"/>
                <a:ea typeface="Sura"/>
                <a:cs typeface="Sura"/>
                <a:sym typeface="Sura"/>
              </a:rPr>
              <a:t>combines predictions from multiple algorithms</a:t>
            </a:r>
            <a:r>
              <a:rPr lang="en" sz="1200">
                <a:solidFill>
                  <a:schemeClr val="dk2"/>
                </a:solidFill>
                <a:latin typeface="Sura"/>
                <a:ea typeface="Sura"/>
                <a:cs typeface="Sura"/>
                <a:sym typeface="Sura"/>
              </a:rPr>
              <a:t>)</a:t>
            </a:r>
            <a:endParaRPr sz="1600">
              <a:solidFill>
                <a:schemeClr val="dk2"/>
              </a:solidFill>
              <a:latin typeface="Sura"/>
              <a:ea typeface="Sura"/>
              <a:cs typeface="Sura"/>
              <a:sym typeface="Sura"/>
            </a:endParaRPr>
          </a:p>
          <a:p>
            <a:pPr indent="-330200" lvl="0" marL="457200" marR="0" rtl="0" algn="just">
              <a:lnSpc>
                <a:spcPct val="139993"/>
              </a:lnSpc>
              <a:spcBef>
                <a:spcPts val="0"/>
              </a:spcBef>
              <a:spcAft>
                <a:spcPts val="0"/>
              </a:spcAft>
              <a:buClr>
                <a:schemeClr val="dk2"/>
              </a:buClr>
              <a:buSzPts val="1600"/>
              <a:buFont typeface="Sura"/>
              <a:buChar char="●"/>
            </a:pPr>
            <a:r>
              <a:rPr lang="en" sz="1600">
                <a:solidFill>
                  <a:schemeClr val="dk2"/>
                </a:solidFill>
                <a:latin typeface="Sura"/>
                <a:ea typeface="Sura"/>
                <a:cs typeface="Sura"/>
                <a:sym typeface="Sura"/>
              </a:rPr>
              <a:t>Neural network (Tabnet-deep)</a:t>
            </a:r>
            <a:endParaRPr sz="1600">
              <a:solidFill>
                <a:schemeClr val="dk2"/>
              </a:solidFill>
              <a:latin typeface="Sura"/>
              <a:ea typeface="Sura"/>
              <a:cs typeface="Sura"/>
              <a:sym typeface="Sura"/>
            </a:endParaRPr>
          </a:p>
          <a:p>
            <a:pPr indent="0" lvl="0" marL="0" marR="0" rtl="0" algn="just">
              <a:lnSpc>
                <a:spcPct val="139993"/>
              </a:lnSpc>
              <a:spcBef>
                <a:spcPts val="0"/>
              </a:spcBef>
              <a:spcAft>
                <a:spcPts val="0"/>
              </a:spcAft>
              <a:buNone/>
            </a:pPr>
            <a:r>
              <a:t/>
            </a:r>
            <a:endParaRPr sz="1500">
              <a:solidFill>
                <a:schemeClr val="dk2"/>
              </a:solidFill>
            </a:endParaRPr>
          </a:p>
        </p:txBody>
      </p:sp>
      <p:sp>
        <p:nvSpPr>
          <p:cNvPr id="373" name="Google Shape;373;p37"/>
          <p:cNvSpPr txBox="1"/>
          <p:nvPr/>
        </p:nvSpPr>
        <p:spPr>
          <a:xfrm>
            <a:off x="1437725" y="583750"/>
            <a:ext cx="6269700" cy="4926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rPr b="1" lang="en" sz="4000">
                <a:solidFill>
                  <a:srgbClr val="122857"/>
                </a:solidFill>
                <a:latin typeface="Sura"/>
                <a:ea typeface="Sura"/>
                <a:cs typeface="Sura"/>
                <a:sym typeface="Sura"/>
              </a:rPr>
              <a:t>Method：Models</a:t>
            </a:r>
            <a:endParaRPr sz="4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377" name="Shape 377"/>
        <p:cNvGrpSpPr/>
        <p:nvPr/>
      </p:nvGrpSpPr>
      <p:grpSpPr>
        <a:xfrm>
          <a:off x="0" y="0"/>
          <a:ext cx="0" cy="0"/>
          <a:chOff x="0" y="0"/>
          <a:chExt cx="0" cy="0"/>
        </a:xfrm>
      </p:grpSpPr>
      <p:grpSp>
        <p:nvGrpSpPr>
          <p:cNvPr id="378" name="Google Shape;378;p38"/>
          <p:cNvGrpSpPr/>
          <p:nvPr/>
        </p:nvGrpSpPr>
        <p:grpSpPr>
          <a:xfrm>
            <a:off x="514350" y="423939"/>
            <a:ext cx="8115140" cy="4205131"/>
            <a:chOff x="0" y="-47625"/>
            <a:chExt cx="4274726" cy="2215092"/>
          </a:xfrm>
        </p:grpSpPr>
        <p:sp>
          <p:nvSpPr>
            <p:cNvPr id="379" name="Google Shape;379;p38"/>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380" name="Google Shape;380;p38"/>
            <p:cNvSpPr txBox="1"/>
            <p:nvPr/>
          </p:nvSpPr>
          <p:spPr>
            <a:xfrm>
              <a:off x="0" y="-47625"/>
              <a:ext cx="4274726"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81" name="Google Shape;381;p38"/>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382" name="Google Shape;382;p38"/>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383" name="Google Shape;383;p38"/>
          <p:cNvGrpSpPr/>
          <p:nvPr/>
        </p:nvGrpSpPr>
        <p:grpSpPr>
          <a:xfrm>
            <a:off x="1648966" y="4434608"/>
            <a:ext cx="5846064" cy="5846064"/>
            <a:chOff x="0" y="0"/>
            <a:chExt cx="812800" cy="812800"/>
          </a:xfrm>
        </p:grpSpPr>
        <p:sp>
          <p:nvSpPr>
            <p:cNvPr id="384" name="Google Shape;384;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5" name="Google Shape;385;p38"/>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86" name="Google Shape;386;p38"/>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87" name="Google Shape;387;p38"/>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88" name="Google Shape;388;p38"/>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389" name="Google Shape;389;p38"/>
          <p:cNvSpPr txBox="1"/>
          <p:nvPr/>
        </p:nvSpPr>
        <p:spPr>
          <a:xfrm>
            <a:off x="691600" y="1530663"/>
            <a:ext cx="3302100" cy="2709000"/>
          </a:xfrm>
          <a:prstGeom prst="rect">
            <a:avLst/>
          </a:prstGeom>
          <a:noFill/>
          <a:ln>
            <a:noFill/>
          </a:ln>
        </p:spPr>
        <p:txBody>
          <a:bodyPr anchorCtr="0" anchor="t" bIns="0" lIns="0" spcFirstLastPara="1" rIns="0" wrap="square" tIns="0">
            <a:spAutoFit/>
          </a:bodyPr>
          <a:lstStyle/>
          <a:p>
            <a:pPr indent="-342900" lvl="0" marL="457200" marR="0" rtl="0" algn="just">
              <a:lnSpc>
                <a:spcPct val="150000"/>
              </a:lnSpc>
              <a:spcBef>
                <a:spcPts val="0"/>
              </a:spcBef>
              <a:spcAft>
                <a:spcPts val="0"/>
              </a:spcAft>
              <a:buClr>
                <a:srgbClr val="122857"/>
              </a:buClr>
              <a:buSzPts val="1800"/>
              <a:buFont typeface="Sura"/>
              <a:buChar char="●"/>
            </a:pPr>
            <a:r>
              <a:rPr lang="en" sz="1800">
                <a:solidFill>
                  <a:srgbClr val="122857"/>
                </a:solidFill>
                <a:latin typeface="Sura"/>
                <a:ea typeface="Sura"/>
                <a:cs typeface="Sura"/>
                <a:sym typeface="Sura"/>
              </a:rPr>
              <a:t>Due to Class Imbalanced:</a:t>
            </a:r>
            <a:endParaRPr sz="1800">
              <a:solidFill>
                <a:srgbClr val="122857"/>
              </a:solidFill>
              <a:latin typeface="Sura"/>
              <a:ea typeface="Sura"/>
              <a:cs typeface="Sura"/>
              <a:sym typeface="Sura"/>
            </a:endParaRPr>
          </a:p>
          <a:p>
            <a:pPr indent="-342900" lvl="1" marL="914400" marR="0" rtl="0" algn="just">
              <a:lnSpc>
                <a:spcPct val="150000"/>
              </a:lnSpc>
              <a:spcBef>
                <a:spcPts val="0"/>
              </a:spcBef>
              <a:spcAft>
                <a:spcPts val="0"/>
              </a:spcAft>
              <a:buClr>
                <a:srgbClr val="122857"/>
              </a:buClr>
              <a:buSzPts val="1800"/>
              <a:buFont typeface="Sura"/>
              <a:buChar char="○"/>
            </a:pPr>
            <a:r>
              <a:rPr lang="en" sz="1800">
                <a:solidFill>
                  <a:srgbClr val="122857"/>
                </a:solidFill>
                <a:latin typeface="Sura"/>
                <a:ea typeface="Sura"/>
                <a:cs typeface="Sura"/>
                <a:sym typeface="Sura"/>
              </a:rPr>
              <a:t>Balanced Accuracy</a:t>
            </a:r>
            <a:endParaRPr sz="1800">
              <a:solidFill>
                <a:srgbClr val="122857"/>
              </a:solidFill>
              <a:latin typeface="Sura"/>
              <a:ea typeface="Sura"/>
              <a:cs typeface="Sura"/>
              <a:sym typeface="Sura"/>
            </a:endParaRPr>
          </a:p>
          <a:p>
            <a:pPr indent="-342900" lvl="1" marL="914400" marR="0" rtl="0" algn="just">
              <a:lnSpc>
                <a:spcPct val="150000"/>
              </a:lnSpc>
              <a:spcBef>
                <a:spcPts val="0"/>
              </a:spcBef>
              <a:spcAft>
                <a:spcPts val="0"/>
              </a:spcAft>
              <a:buClr>
                <a:srgbClr val="122857"/>
              </a:buClr>
              <a:buSzPts val="1800"/>
              <a:buFont typeface="Sura"/>
              <a:buChar char="○"/>
            </a:pPr>
            <a:r>
              <a:rPr lang="en" sz="1800">
                <a:solidFill>
                  <a:srgbClr val="122857"/>
                </a:solidFill>
                <a:latin typeface="Sura"/>
                <a:ea typeface="Sura"/>
                <a:cs typeface="Sura"/>
                <a:sym typeface="Sura"/>
              </a:rPr>
              <a:t>ROC-AUC</a:t>
            </a:r>
            <a:endParaRPr sz="1800">
              <a:solidFill>
                <a:srgbClr val="122857"/>
              </a:solidFill>
              <a:latin typeface="Sura"/>
              <a:ea typeface="Sura"/>
              <a:cs typeface="Sura"/>
              <a:sym typeface="Sura"/>
            </a:endParaRPr>
          </a:p>
          <a:p>
            <a:pPr indent="-342900" lvl="1" marL="914400" marR="0" rtl="0" algn="just">
              <a:lnSpc>
                <a:spcPct val="150000"/>
              </a:lnSpc>
              <a:spcBef>
                <a:spcPts val="0"/>
              </a:spcBef>
              <a:spcAft>
                <a:spcPts val="0"/>
              </a:spcAft>
              <a:buClr>
                <a:srgbClr val="122857"/>
              </a:buClr>
              <a:buSzPts val="1800"/>
              <a:buFont typeface="Sura"/>
              <a:buChar char="○"/>
            </a:pPr>
            <a:r>
              <a:rPr lang="en" sz="1800">
                <a:solidFill>
                  <a:srgbClr val="122857"/>
                </a:solidFill>
                <a:latin typeface="Sura"/>
                <a:ea typeface="Sura"/>
                <a:cs typeface="Sura"/>
                <a:sym typeface="Sura"/>
              </a:rPr>
              <a:t>F1 Score</a:t>
            </a:r>
            <a:endParaRPr sz="1800">
              <a:solidFill>
                <a:srgbClr val="122857"/>
              </a:solidFill>
              <a:latin typeface="Sura"/>
              <a:ea typeface="Sura"/>
              <a:cs typeface="Sura"/>
              <a:sym typeface="Sura"/>
            </a:endParaRPr>
          </a:p>
          <a:p>
            <a:pPr indent="-342900" lvl="0" marL="457200" marR="0" rtl="0" algn="just">
              <a:lnSpc>
                <a:spcPct val="150000"/>
              </a:lnSpc>
              <a:spcBef>
                <a:spcPts val="0"/>
              </a:spcBef>
              <a:spcAft>
                <a:spcPts val="0"/>
              </a:spcAft>
              <a:buClr>
                <a:srgbClr val="122857"/>
              </a:buClr>
              <a:buSzPts val="1800"/>
              <a:buFont typeface="Sura"/>
              <a:buChar char="●"/>
            </a:pPr>
            <a:r>
              <a:rPr lang="en" sz="1800">
                <a:solidFill>
                  <a:srgbClr val="122857"/>
                </a:solidFill>
                <a:latin typeface="Sura"/>
                <a:ea typeface="Sura"/>
                <a:cs typeface="Sura"/>
                <a:sym typeface="Sura"/>
              </a:rPr>
              <a:t>Feature Importance</a:t>
            </a:r>
            <a:endParaRPr sz="1800">
              <a:solidFill>
                <a:srgbClr val="122857"/>
              </a:solidFill>
              <a:latin typeface="Sura"/>
              <a:ea typeface="Sura"/>
              <a:cs typeface="Sura"/>
              <a:sym typeface="Sura"/>
            </a:endParaRPr>
          </a:p>
          <a:p>
            <a:pPr indent="-342900" lvl="1" marL="914400" marR="0" rtl="0" algn="just">
              <a:lnSpc>
                <a:spcPct val="150000"/>
              </a:lnSpc>
              <a:spcBef>
                <a:spcPts val="0"/>
              </a:spcBef>
              <a:spcAft>
                <a:spcPts val="0"/>
              </a:spcAft>
              <a:buClr>
                <a:srgbClr val="122857"/>
              </a:buClr>
              <a:buSzPts val="1800"/>
              <a:buFont typeface="Sura"/>
              <a:buChar char="○"/>
            </a:pPr>
            <a:r>
              <a:rPr lang="en" sz="1800">
                <a:solidFill>
                  <a:srgbClr val="122857"/>
                </a:solidFill>
                <a:latin typeface="Sura"/>
                <a:ea typeface="Sura"/>
                <a:cs typeface="Sura"/>
                <a:sym typeface="Sura"/>
              </a:rPr>
              <a:t>Shapley Value</a:t>
            </a:r>
            <a:endParaRPr sz="1800">
              <a:solidFill>
                <a:srgbClr val="122857"/>
              </a:solidFill>
              <a:latin typeface="Sura"/>
              <a:ea typeface="Sura"/>
              <a:cs typeface="Sura"/>
              <a:sym typeface="Sura"/>
            </a:endParaRPr>
          </a:p>
          <a:p>
            <a:pPr indent="0" lvl="0" marL="0" marR="0" rtl="0" algn="just">
              <a:lnSpc>
                <a:spcPct val="139992"/>
              </a:lnSpc>
              <a:spcBef>
                <a:spcPts val="0"/>
              </a:spcBef>
              <a:spcAft>
                <a:spcPts val="0"/>
              </a:spcAft>
              <a:buNone/>
            </a:pPr>
            <a:r>
              <a:t/>
            </a:r>
            <a:endParaRPr>
              <a:solidFill>
                <a:srgbClr val="122857"/>
              </a:solidFill>
            </a:endParaRPr>
          </a:p>
        </p:txBody>
      </p:sp>
      <p:sp>
        <p:nvSpPr>
          <p:cNvPr id="390" name="Google Shape;390;p38"/>
          <p:cNvSpPr txBox="1"/>
          <p:nvPr/>
        </p:nvSpPr>
        <p:spPr>
          <a:xfrm>
            <a:off x="5090750" y="2211601"/>
            <a:ext cx="1782600" cy="86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t/>
            </a:r>
            <a:endParaRPr sz="700"/>
          </a:p>
        </p:txBody>
      </p:sp>
      <p:sp>
        <p:nvSpPr>
          <p:cNvPr id="391" name="Google Shape;391;p38"/>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392" name="Google Shape;392;p38"/>
          <p:cNvSpPr txBox="1"/>
          <p:nvPr/>
        </p:nvSpPr>
        <p:spPr>
          <a:xfrm>
            <a:off x="2271269" y="613771"/>
            <a:ext cx="4602600" cy="480300"/>
          </a:xfrm>
          <a:prstGeom prst="rect">
            <a:avLst/>
          </a:prstGeom>
          <a:noFill/>
          <a:ln>
            <a:noFill/>
          </a:ln>
        </p:spPr>
        <p:txBody>
          <a:bodyPr anchorCtr="0" anchor="t" bIns="0" lIns="0" spcFirstLastPara="1" rIns="0" wrap="square" tIns="0">
            <a:spAutoFit/>
          </a:bodyPr>
          <a:lstStyle/>
          <a:p>
            <a:pPr indent="0" lvl="0" marL="0" marR="0" rtl="0" algn="ctr">
              <a:lnSpc>
                <a:spcPct val="79994"/>
              </a:lnSpc>
              <a:spcBef>
                <a:spcPts val="0"/>
              </a:spcBef>
              <a:spcAft>
                <a:spcPts val="0"/>
              </a:spcAft>
              <a:buNone/>
            </a:pPr>
            <a:r>
              <a:rPr b="1" lang="en" sz="3900">
                <a:solidFill>
                  <a:srgbClr val="122857"/>
                </a:solidFill>
                <a:latin typeface="Sura"/>
                <a:ea typeface="Sura"/>
                <a:cs typeface="Sura"/>
                <a:sym typeface="Sura"/>
              </a:rPr>
              <a:t>Evaluation Metrics</a:t>
            </a:r>
            <a:endParaRPr sz="700"/>
          </a:p>
        </p:txBody>
      </p:sp>
      <p:pic>
        <p:nvPicPr>
          <p:cNvPr id="393" name="Google Shape;393;p38" title="symptom_prevalence_plot.png"/>
          <p:cNvPicPr preferRelativeResize="0"/>
          <p:nvPr/>
        </p:nvPicPr>
        <p:blipFill rotWithShape="1">
          <a:blip r:embed="rId6">
            <a:alphaModFix/>
          </a:blip>
          <a:srcRect b="5464" l="0" r="0" t="0"/>
          <a:stretch/>
        </p:blipFill>
        <p:spPr>
          <a:xfrm>
            <a:off x="3695250" y="1015850"/>
            <a:ext cx="4893573" cy="3504702"/>
          </a:xfrm>
          <a:prstGeom prst="rect">
            <a:avLst/>
          </a:prstGeom>
          <a:noFill/>
          <a:ln>
            <a:noFill/>
          </a:ln>
        </p:spPr>
      </p:pic>
      <p:sp>
        <p:nvSpPr>
          <p:cNvPr id="394" name="Google Shape;394;p38"/>
          <p:cNvSpPr/>
          <p:nvPr/>
        </p:nvSpPr>
        <p:spPr>
          <a:xfrm>
            <a:off x="3818130" y="1395599"/>
            <a:ext cx="12552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Fainting Spell</a:t>
            </a:r>
            <a:endParaRPr sz="1200">
              <a:latin typeface="EB Garamond"/>
              <a:ea typeface="EB Garamond"/>
              <a:cs typeface="EB Garamond"/>
              <a:sym typeface="EB Garamond"/>
            </a:endParaRPr>
          </a:p>
        </p:txBody>
      </p:sp>
      <p:sp>
        <p:nvSpPr>
          <p:cNvPr id="395" name="Google Shape;395;p38"/>
          <p:cNvSpPr/>
          <p:nvPr/>
        </p:nvSpPr>
        <p:spPr>
          <a:xfrm>
            <a:off x="4230655" y="1627002"/>
            <a:ext cx="8517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Chest Pain</a:t>
            </a:r>
            <a:endParaRPr sz="1200">
              <a:latin typeface="EB Garamond"/>
              <a:ea typeface="EB Garamond"/>
              <a:cs typeface="EB Garamond"/>
              <a:sym typeface="EB Garamond"/>
            </a:endParaRPr>
          </a:p>
        </p:txBody>
      </p:sp>
      <p:sp>
        <p:nvSpPr>
          <p:cNvPr id="396" name="Google Shape;396;p38"/>
          <p:cNvSpPr/>
          <p:nvPr/>
        </p:nvSpPr>
        <p:spPr>
          <a:xfrm>
            <a:off x="4230666" y="1849638"/>
            <a:ext cx="8517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Dizziness</a:t>
            </a:r>
            <a:endParaRPr sz="1200">
              <a:latin typeface="EB Garamond"/>
              <a:ea typeface="EB Garamond"/>
              <a:cs typeface="EB Garamond"/>
              <a:sym typeface="EB Garamond"/>
            </a:endParaRPr>
          </a:p>
        </p:txBody>
      </p:sp>
      <p:sp>
        <p:nvSpPr>
          <p:cNvPr id="397" name="Google Shape;397;p38"/>
          <p:cNvSpPr/>
          <p:nvPr/>
        </p:nvSpPr>
        <p:spPr>
          <a:xfrm>
            <a:off x="3753352" y="2063502"/>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Shortness of Breath</a:t>
            </a:r>
            <a:endParaRPr sz="1200">
              <a:latin typeface="EB Garamond"/>
              <a:ea typeface="EB Garamond"/>
              <a:cs typeface="EB Garamond"/>
              <a:sym typeface="EB Garamond"/>
            </a:endParaRPr>
          </a:p>
        </p:txBody>
      </p:sp>
      <p:sp>
        <p:nvSpPr>
          <p:cNvPr id="398" name="Google Shape;398;p38"/>
          <p:cNvSpPr/>
          <p:nvPr/>
        </p:nvSpPr>
        <p:spPr>
          <a:xfrm>
            <a:off x="3695250" y="2448875"/>
            <a:ext cx="175800" cy="86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9" name="Google Shape;399;p38"/>
          <p:cNvSpPr/>
          <p:nvPr/>
        </p:nvSpPr>
        <p:spPr>
          <a:xfrm>
            <a:off x="3747902" y="2288923"/>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Constipation</a:t>
            </a:r>
            <a:endParaRPr sz="1200">
              <a:latin typeface="EB Garamond"/>
              <a:ea typeface="EB Garamond"/>
              <a:cs typeface="EB Garamond"/>
              <a:sym typeface="EB Garamond"/>
            </a:endParaRPr>
          </a:p>
        </p:txBody>
      </p:sp>
      <p:sp>
        <p:nvSpPr>
          <p:cNvPr id="400" name="Google Shape;400;p38"/>
          <p:cNvSpPr/>
          <p:nvPr/>
        </p:nvSpPr>
        <p:spPr>
          <a:xfrm>
            <a:off x="3751089" y="2508743"/>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Heart Pounce/race</a:t>
            </a:r>
            <a:endParaRPr sz="1200">
              <a:latin typeface="EB Garamond"/>
              <a:ea typeface="EB Garamond"/>
              <a:cs typeface="EB Garamond"/>
              <a:sym typeface="EB Garamond"/>
            </a:endParaRPr>
          </a:p>
        </p:txBody>
      </p:sp>
      <p:sp>
        <p:nvSpPr>
          <p:cNvPr id="401" name="Google Shape;401;p38"/>
          <p:cNvSpPr/>
          <p:nvPr/>
        </p:nvSpPr>
        <p:spPr>
          <a:xfrm>
            <a:off x="3747914" y="2728568"/>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Stomach Pain</a:t>
            </a:r>
            <a:endParaRPr sz="1200">
              <a:latin typeface="EB Garamond"/>
              <a:ea typeface="EB Garamond"/>
              <a:cs typeface="EB Garamond"/>
              <a:sym typeface="EB Garamond"/>
            </a:endParaRPr>
          </a:p>
        </p:txBody>
      </p:sp>
      <p:sp>
        <p:nvSpPr>
          <p:cNvPr id="402" name="Google Shape;402;p38"/>
          <p:cNvSpPr/>
          <p:nvPr/>
        </p:nvSpPr>
        <p:spPr>
          <a:xfrm>
            <a:off x="5556025" y="4405280"/>
            <a:ext cx="2448300" cy="223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EB Garamond"/>
                <a:ea typeface="EB Garamond"/>
                <a:cs typeface="EB Garamond"/>
                <a:sym typeface="EB Garamond"/>
              </a:rPr>
              <a:t>Proportion of Symptom </a:t>
            </a:r>
            <a:r>
              <a:rPr b="1" lang="en" sz="1200">
                <a:latin typeface="EB Garamond"/>
                <a:ea typeface="EB Garamond"/>
                <a:cs typeface="EB Garamond"/>
                <a:sym typeface="EB Garamond"/>
              </a:rPr>
              <a:t>Prevalence</a:t>
            </a:r>
            <a:endParaRPr b="1" sz="1200">
              <a:latin typeface="EB Garamond"/>
              <a:ea typeface="EB Garamond"/>
              <a:cs typeface="EB Garamond"/>
              <a:sym typeface="EB Garamond"/>
            </a:endParaRPr>
          </a:p>
        </p:txBody>
      </p:sp>
      <p:sp>
        <p:nvSpPr>
          <p:cNvPr id="403" name="Google Shape;403;p38"/>
          <p:cNvSpPr/>
          <p:nvPr/>
        </p:nvSpPr>
        <p:spPr>
          <a:xfrm>
            <a:off x="3704027" y="2941424"/>
            <a:ext cx="1367700" cy="22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Nausea/Indigestion</a:t>
            </a:r>
            <a:endParaRPr sz="1200">
              <a:latin typeface="EB Garamond"/>
              <a:ea typeface="EB Garamond"/>
              <a:cs typeface="EB Garamond"/>
              <a:sym typeface="EB Garamond"/>
            </a:endParaRPr>
          </a:p>
        </p:txBody>
      </p:sp>
      <p:sp>
        <p:nvSpPr>
          <p:cNvPr id="404" name="Google Shape;404;p38"/>
          <p:cNvSpPr/>
          <p:nvPr/>
        </p:nvSpPr>
        <p:spPr>
          <a:xfrm>
            <a:off x="3747914" y="3164050"/>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Limb/Joint Pain</a:t>
            </a:r>
            <a:endParaRPr sz="1200">
              <a:latin typeface="EB Garamond"/>
              <a:ea typeface="EB Garamond"/>
              <a:cs typeface="EB Garamond"/>
              <a:sym typeface="EB Garamond"/>
            </a:endParaRPr>
          </a:p>
        </p:txBody>
      </p:sp>
      <p:sp>
        <p:nvSpPr>
          <p:cNvPr id="405" name="Google Shape;405;p38"/>
          <p:cNvSpPr/>
          <p:nvPr/>
        </p:nvSpPr>
        <p:spPr>
          <a:xfrm>
            <a:off x="3747914" y="3391698"/>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Back</a:t>
            </a:r>
            <a:r>
              <a:rPr lang="en" sz="1200">
                <a:latin typeface="EB Garamond"/>
                <a:ea typeface="EB Garamond"/>
                <a:cs typeface="EB Garamond"/>
                <a:sym typeface="EB Garamond"/>
              </a:rPr>
              <a:t> Pain</a:t>
            </a:r>
            <a:endParaRPr sz="1200">
              <a:latin typeface="EB Garamond"/>
              <a:ea typeface="EB Garamond"/>
              <a:cs typeface="EB Garamond"/>
              <a:sym typeface="EB Garamond"/>
            </a:endParaRPr>
          </a:p>
        </p:txBody>
      </p:sp>
      <p:sp>
        <p:nvSpPr>
          <p:cNvPr id="406" name="Google Shape;406;p38"/>
          <p:cNvSpPr/>
          <p:nvPr/>
        </p:nvSpPr>
        <p:spPr>
          <a:xfrm>
            <a:off x="3747914" y="3610573"/>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Headache</a:t>
            </a:r>
            <a:endParaRPr sz="1200">
              <a:latin typeface="EB Garamond"/>
              <a:ea typeface="EB Garamond"/>
              <a:cs typeface="EB Garamond"/>
              <a:sym typeface="EB Garamond"/>
            </a:endParaRPr>
          </a:p>
        </p:txBody>
      </p:sp>
      <p:sp>
        <p:nvSpPr>
          <p:cNvPr id="407" name="Google Shape;407;p38"/>
          <p:cNvSpPr/>
          <p:nvPr/>
        </p:nvSpPr>
        <p:spPr>
          <a:xfrm>
            <a:off x="3743493" y="3829448"/>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Trouble Sleeping</a:t>
            </a:r>
            <a:endParaRPr sz="1200">
              <a:latin typeface="EB Garamond"/>
              <a:ea typeface="EB Garamond"/>
              <a:cs typeface="EB Garamond"/>
              <a:sym typeface="EB Garamond"/>
            </a:endParaRPr>
          </a:p>
        </p:txBody>
      </p:sp>
      <p:sp>
        <p:nvSpPr>
          <p:cNvPr id="408" name="Google Shape;408;p38"/>
          <p:cNvSpPr/>
          <p:nvPr/>
        </p:nvSpPr>
        <p:spPr>
          <a:xfrm>
            <a:off x="3752271" y="4048323"/>
            <a:ext cx="13239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EB Garamond"/>
                <a:ea typeface="EB Garamond"/>
                <a:cs typeface="EB Garamond"/>
                <a:sym typeface="EB Garamond"/>
              </a:rPr>
              <a:t>Fatigue</a:t>
            </a:r>
            <a:endParaRPr sz="1200">
              <a:latin typeface="EB Garamond"/>
              <a:ea typeface="EB Garamond"/>
              <a:cs typeface="EB Garamond"/>
              <a:sym typeface="EB Garamond"/>
            </a:endParaRPr>
          </a:p>
        </p:txBody>
      </p:sp>
      <p:sp>
        <p:nvSpPr>
          <p:cNvPr id="409" name="Google Shape;409;p38"/>
          <p:cNvSpPr/>
          <p:nvPr/>
        </p:nvSpPr>
        <p:spPr>
          <a:xfrm>
            <a:off x="3695249" y="1044500"/>
            <a:ext cx="4911600" cy="286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EB Garamond"/>
                <a:ea typeface="EB Garamond"/>
                <a:cs typeface="EB Garamond"/>
                <a:sym typeface="EB Garamond"/>
              </a:rPr>
              <a:t>Proportion of Participants Reporting Each Symptoms</a:t>
            </a:r>
            <a:endParaRPr b="1" sz="1300">
              <a:latin typeface="EB Garamond"/>
              <a:ea typeface="EB Garamond"/>
              <a:cs typeface="EB Garamond"/>
              <a:sym typeface="EB Garamo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413" name="Shape 413"/>
        <p:cNvGrpSpPr/>
        <p:nvPr/>
      </p:nvGrpSpPr>
      <p:grpSpPr>
        <a:xfrm>
          <a:off x="0" y="0"/>
          <a:ext cx="0" cy="0"/>
          <a:chOff x="0" y="0"/>
          <a:chExt cx="0" cy="0"/>
        </a:xfrm>
      </p:grpSpPr>
      <p:grpSp>
        <p:nvGrpSpPr>
          <p:cNvPr id="414" name="Google Shape;414;p39"/>
          <p:cNvGrpSpPr/>
          <p:nvPr/>
        </p:nvGrpSpPr>
        <p:grpSpPr>
          <a:xfrm>
            <a:off x="600775" y="469076"/>
            <a:ext cx="8115140" cy="4205336"/>
            <a:chOff x="0" y="-47625"/>
            <a:chExt cx="4274726" cy="2215200"/>
          </a:xfrm>
        </p:grpSpPr>
        <p:sp>
          <p:nvSpPr>
            <p:cNvPr id="415" name="Google Shape;415;p39"/>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416" name="Google Shape;416;p39"/>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17" name="Google Shape;417;p39"/>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418" name="Google Shape;418;p39"/>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419" name="Google Shape;419;p39"/>
          <p:cNvGrpSpPr/>
          <p:nvPr/>
        </p:nvGrpSpPr>
        <p:grpSpPr>
          <a:xfrm>
            <a:off x="1648978" y="4353158"/>
            <a:ext cx="5846064" cy="5846064"/>
            <a:chOff x="0" y="0"/>
            <a:chExt cx="812800" cy="812800"/>
          </a:xfrm>
        </p:grpSpPr>
        <p:sp>
          <p:nvSpPr>
            <p:cNvPr id="420" name="Google Shape;420;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1" name="Google Shape;421;p39"/>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22" name="Google Shape;422;p39"/>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23" name="Google Shape;423;p39"/>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24" name="Google Shape;424;p39"/>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25" name="Google Shape;425;p39"/>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26" name="Google Shape;426;p39"/>
          <p:cNvSpPr txBox="1"/>
          <p:nvPr/>
        </p:nvSpPr>
        <p:spPr>
          <a:xfrm>
            <a:off x="862463" y="38275"/>
            <a:ext cx="7490400" cy="4308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rPr b="1" lang="en" sz="3500">
                <a:solidFill>
                  <a:srgbClr val="122857"/>
                </a:solidFill>
                <a:latin typeface="Sura"/>
                <a:ea typeface="Sura"/>
                <a:cs typeface="Sura"/>
                <a:sym typeface="Sura"/>
              </a:rPr>
              <a:t>Results: Symptom-Specific Findings</a:t>
            </a:r>
            <a:endParaRPr sz="3500"/>
          </a:p>
        </p:txBody>
      </p:sp>
      <p:pic>
        <p:nvPicPr>
          <p:cNvPr id="427" name="Google Shape;427;p39" title="best_model_ranking.png"/>
          <p:cNvPicPr preferRelativeResize="0"/>
          <p:nvPr/>
        </p:nvPicPr>
        <p:blipFill>
          <a:blip r:embed="rId6">
            <a:alphaModFix/>
          </a:blip>
          <a:stretch>
            <a:fillRect/>
          </a:stretch>
        </p:blipFill>
        <p:spPr>
          <a:xfrm>
            <a:off x="600775" y="576650"/>
            <a:ext cx="8053652" cy="4498849"/>
          </a:xfrm>
          <a:prstGeom prst="rect">
            <a:avLst/>
          </a:prstGeom>
          <a:noFill/>
          <a:ln>
            <a:noFill/>
          </a:ln>
        </p:spPr>
      </p:pic>
      <p:sp>
        <p:nvSpPr>
          <p:cNvPr id="428" name="Google Shape;428;p39"/>
          <p:cNvSpPr/>
          <p:nvPr/>
        </p:nvSpPr>
        <p:spPr>
          <a:xfrm>
            <a:off x="7557275" y="2742675"/>
            <a:ext cx="3423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9" name="Google Shape;429;p39"/>
          <p:cNvSpPr/>
          <p:nvPr/>
        </p:nvSpPr>
        <p:spPr>
          <a:xfrm>
            <a:off x="7495050" y="3843025"/>
            <a:ext cx="3423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0" name="Google Shape;430;p39"/>
          <p:cNvSpPr/>
          <p:nvPr/>
        </p:nvSpPr>
        <p:spPr>
          <a:xfrm>
            <a:off x="8312125" y="4390400"/>
            <a:ext cx="245700" cy="16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1" name="Google Shape;431;p39"/>
          <p:cNvSpPr txBox="1"/>
          <p:nvPr/>
        </p:nvSpPr>
        <p:spPr>
          <a:xfrm>
            <a:off x="7486993" y="2742675"/>
            <a:ext cx="430200" cy="16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Calibri"/>
                <a:ea typeface="Calibri"/>
                <a:cs typeface="Calibri"/>
                <a:sym typeface="Calibri"/>
              </a:rPr>
              <a:t>0.817</a:t>
            </a:r>
            <a:endParaRPr b="1" sz="800">
              <a:solidFill>
                <a:schemeClr val="dk1"/>
              </a:solidFill>
              <a:latin typeface="Calibri"/>
              <a:ea typeface="Calibri"/>
              <a:cs typeface="Calibri"/>
              <a:sym typeface="Calibri"/>
            </a:endParaRPr>
          </a:p>
        </p:txBody>
      </p:sp>
      <p:sp>
        <p:nvSpPr>
          <p:cNvPr id="432" name="Google Shape;432;p39"/>
          <p:cNvSpPr txBox="1"/>
          <p:nvPr/>
        </p:nvSpPr>
        <p:spPr>
          <a:xfrm>
            <a:off x="7415984" y="3843025"/>
            <a:ext cx="430200" cy="16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Calibri"/>
                <a:ea typeface="Calibri"/>
                <a:cs typeface="Calibri"/>
                <a:sym typeface="Calibri"/>
              </a:rPr>
              <a:t>0.806</a:t>
            </a:r>
            <a:endParaRPr b="1" sz="800">
              <a:solidFill>
                <a:schemeClr val="dk1"/>
              </a:solidFill>
              <a:latin typeface="Calibri"/>
              <a:ea typeface="Calibri"/>
              <a:cs typeface="Calibri"/>
              <a:sym typeface="Calibri"/>
            </a:endParaRPr>
          </a:p>
        </p:txBody>
      </p:sp>
      <p:sp>
        <p:nvSpPr>
          <p:cNvPr id="433" name="Google Shape;433;p39"/>
          <p:cNvSpPr txBox="1"/>
          <p:nvPr/>
        </p:nvSpPr>
        <p:spPr>
          <a:xfrm>
            <a:off x="8221850" y="4390400"/>
            <a:ext cx="494100" cy="16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1F1F1F"/>
                </a:solidFill>
                <a:latin typeface="Calibri"/>
                <a:ea typeface="Calibri"/>
                <a:cs typeface="Calibri"/>
                <a:sym typeface="Calibri"/>
              </a:rPr>
              <a:t>0.934</a:t>
            </a:r>
            <a:endParaRPr b="1" sz="900">
              <a:solidFill>
                <a:srgbClr val="1F1F1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437" name="Shape 437"/>
        <p:cNvGrpSpPr/>
        <p:nvPr/>
      </p:nvGrpSpPr>
      <p:grpSpPr>
        <a:xfrm>
          <a:off x="0" y="0"/>
          <a:ext cx="0" cy="0"/>
          <a:chOff x="0" y="0"/>
          <a:chExt cx="0" cy="0"/>
        </a:xfrm>
      </p:grpSpPr>
      <p:grpSp>
        <p:nvGrpSpPr>
          <p:cNvPr id="438" name="Google Shape;438;p40"/>
          <p:cNvGrpSpPr/>
          <p:nvPr/>
        </p:nvGrpSpPr>
        <p:grpSpPr>
          <a:xfrm>
            <a:off x="600775" y="469076"/>
            <a:ext cx="8115140" cy="4205336"/>
            <a:chOff x="0" y="-47625"/>
            <a:chExt cx="4274726" cy="2215200"/>
          </a:xfrm>
        </p:grpSpPr>
        <p:sp>
          <p:nvSpPr>
            <p:cNvPr id="439" name="Google Shape;439;p40"/>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440" name="Google Shape;440;p40"/>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41" name="Google Shape;441;p40"/>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442" name="Google Shape;442;p40"/>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443" name="Google Shape;443;p40"/>
          <p:cNvGrpSpPr/>
          <p:nvPr/>
        </p:nvGrpSpPr>
        <p:grpSpPr>
          <a:xfrm>
            <a:off x="1648978" y="4353158"/>
            <a:ext cx="5846064" cy="5846064"/>
            <a:chOff x="0" y="0"/>
            <a:chExt cx="812800" cy="812800"/>
          </a:xfrm>
        </p:grpSpPr>
        <p:sp>
          <p:nvSpPr>
            <p:cNvPr id="444" name="Google Shape;444;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5" name="Google Shape;445;p40"/>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46" name="Google Shape;446;p40"/>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47" name="Google Shape;447;p40"/>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48" name="Google Shape;448;p40"/>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49" name="Google Shape;449;p40"/>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50" name="Google Shape;450;p40"/>
          <p:cNvSpPr txBox="1"/>
          <p:nvPr/>
        </p:nvSpPr>
        <p:spPr>
          <a:xfrm>
            <a:off x="827350" y="38275"/>
            <a:ext cx="7490400" cy="4308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rPr b="1" lang="en" sz="3500">
                <a:solidFill>
                  <a:srgbClr val="122857"/>
                </a:solidFill>
                <a:latin typeface="Sura"/>
                <a:ea typeface="Sura"/>
                <a:cs typeface="Sura"/>
                <a:sym typeface="Sura"/>
              </a:rPr>
              <a:t>Results: Symptom-Specific Findings</a:t>
            </a:r>
            <a:endParaRPr sz="3500"/>
          </a:p>
        </p:txBody>
      </p:sp>
      <p:sp>
        <p:nvSpPr>
          <p:cNvPr id="451" name="Google Shape;451;p40"/>
          <p:cNvSpPr/>
          <p:nvPr/>
        </p:nvSpPr>
        <p:spPr>
          <a:xfrm>
            <a:off x="7539698" y="3265150"/>
            <a:ext cx="289800" cy="640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2" name="Google Shape;452;p40"/>
          <p:cNvSpPr/>
          <p:nvPr/>
        </p:nvSpPr>
        <p:spPr>
          <a:xfrm flipH="1" rot="10800000">
            <a:off x="8043200" y="4020100"/>
            <a:ext cx="198600" cy="14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53" name="Google Shape;453;p40" title="best_model_ranking.png"/>
          <p:cNvPicPr preferRelativeResize="0"/>
          <p:nvPr/>
        </p:nvPicPr>
        <p:blipFill>
          <a:blip r:embed="rId6">
            <a:alphaModFix/>
          </a:blip>
          <a:stretch>
            <a:fillRect/>
          </a:stretch>
        </p:blipFill>
        <p:spPr>
          <a:xfrm>
            <a:off x="1460625" y="562525"/>
            <a:ext cx="6706749" cy="41118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457" name="Shape 457"/>
        <p:cNvGrpSpPr/>
        <p:nvPr/>
      </p:nvGrpSpPr>
      <p:grpSpPr>
        <a:xfrm>
          <a:off x="0" y="0"/>
          <a:ext cx="0" cy="0"/>
          <a:chOff x="0" y="0"/>
          <a:chExt cx="0" cy="0"/>
        </a:xfrm>
      </p:grpSpPr>
      <p:sp>
        <p:nvSpPr>
          <p:cNvPr id="458" name="Google Shape;458;p41"/>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459" name="Google Shape;459;p41"/>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460" name="Google Shape;460;p41"/>
          <p:cNvGrpSpPr/>
          <p:nvPr/>
        </p:nvGrpSpPr>
        <p:grpSpPr>
          <a:xfrm>
            <a:off x="1648979" y="4353158"/>
            <a:ext cx="5846044" cy="5846043"/>
            <a:chOff x="0" y="0"/>
            <a:chExt cx="812800" cy="812800"/>
          </a:xfrm>
        </p:grpSpPr>
        <p:sp>
          <p:nvSpPr>
            <p:cNvPr id="461" name="Google Shape;461;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2" name="Google Shape;462;p41"/>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63" name="Google Shape;463;p41"/>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64" name="Google Shape;464;p41"/>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65" name="Google Shape;465;p41"/>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66" name="Google Shape;466;p41"/>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67" name="Google Shape;467;p41"/>
          <p:cNvSpPr txBox="1"/>
          <p:nvPr/>
        </p:nvSpPr>
        <p:spPr>
          <a:xfrm>
            <a:off x="1355200" y="260678"/>
            <a:ext cx="6434700" cy="430800"/>
          </a:xfrm>
          <a:prstGeom prst="rect">
            <a:avLst/>
          </a:prstGeom>
          <a:noFill/>
          <a:ln>
            <a:noFill/>
          </a:ln>
        </p:spPr>
        <p:txBody>
          <a:bodyPr anchorCtr="0" anchor="t" bIns="0" lIns="0" spcFirstLastPara="1" rIns="0" wrap="square" tIns="0">
            <a:spAutoFit/>
          </a:bodyPr>
          <a:lstStyle/>
          <a:p>
            <a:pPr indent="0" lvl="0" marL="0" marR="0" rtl="0" algn="ctr">
              <a:lnSpc>
                <a:spcPct val="79991"/>
              </a:lnSpc>
              <a:spcBef>
                <a:spcPts val="0"/>
              </a:spcBef>
              <a:spcAft>
                <a:spcPts val="0"/>
              </a:spcAft>
              <a:buNone/>
            </a:pPr>
            <a:r>
              <a:rPr b="1" i="0" lang="en" sz="3500" u="none" cap="none" strike="noStrike">
                <a:solidFill>
                  <a:srgbClr val="122857"/>
                </a:solidFill>
                <a:latin typeface="Sura"/>
                <a:ea typeface="Sura"/>
                <a:cs typeface="Sura"/>
                <a:sym typeface="Sura"/>
              </a:rPr>
              <a:t>Results: Feature Importance</a:t>
            </a:r>
            <a:endParaRPr sz="3500"/>
          </a:p>
        </p:txBody>
      </p:sp>
      <p:pic>
        <p:nvPicPr>
          <p:cNvPr id="468" name="Google Shape;468;p41" title="physSx_12_RandomForest_shap_predictors.png"/>
          <p:cNvPicPr preferRelativeResize="0"/>
          <p:nvPr/>
        </p:nvPicPr>
        <p:blipFill>
          <a:blip r:embed="rId6">
            <a:alphaModFix/>
          </a:blip>
          <a:stretch>
            <a:fillRect/>
          </a:stretch>
        </p:blipFill>
        <p:spPr>
          <a:xfrm>
            <a:off x="134075" y="800701"/>
            <a:ext cx="4525425" cy="3814523"/>
          </a:xfrm>
          <a:prstGeom prst="rect">
            <a:avLst/>
          </a:prstGeom>
          <a:noFill/>
          <a:ln>
            <a:noFill/>
          </a:ln>
        </p:spPr>
      </p:pic>
      <p:pic>
        <p:nvPicPr>
          <p:cNvPr id="469" name="Google Shape;469;p41" title="physSx_13_LR-L1_shap_predictors.png"/>
          <p:cNvPicPr preferRelativeResize="0"/>
          <p:nvPr/>
        </p:nvPicPr>
        <p:blipFill>
          <a:blip r:embed="rId7">
            <a:alphaModFix/>
          </a:blip>
          <a:stretch>
            <a:fillRect/>
          </a:stretch>
        </p:blipFill>
        <p:spPr>
          <a:xfrm>
            <a:off x="4659500" y="800700"/>
            <a:ext cx="4437924" cy="3814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473" name="Shape 473"/>
        <p:cNvGrpSpPr/>
        <p:nvPr/>
      </p:nvGrpSpPr>
      <p:grpSpPr>
        <a:xfrm>
          <a:off x="0" y="0"/>
          <a:ext cx="0" cy="0"/>
          <a:chOff x="0" y="0"/>
          <a:chExt cx="0" cy="0"/>
        </a:xfrm>
      </p:grpSpPr>
      <p:grpSp>
        <p:nvGrpSpPr>
          <p:cNvPr id="474" name="Google Shape;474;p42"/>
          <p:cNvGrpSpPr/>
          <p:nvPr/>
        </p:nvGrpSpPr>
        <p:grpSpPr>
          <a:xfrm>
            <a:off x="514350" y="423939"/>
            <a:ext cx="8115140" cy="4205131"/>
            <a:chOff x="0" y="-47625"/>
            <a:chExt cx="4274726" cy="2215092"/>
          </a:xfrm>
        </p:grpSpPr>
        <p:sp>
          <p:nvSpPr>
            <p:cNvPr id="475" name="Google Shape;475;p42"/>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476" name="Google Shape;476;p42"/>
            <p:cNvSpPr txBox="1"/>
            <p:nvPr/>
          </p:nvSpPr>
          <p:spPr>
            <a:xfrm>
              <a:off x="0" y="-47625"/>
              <a:ext cx="4274726"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77" name="Google Shape;477;p42"/>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478" name="Google Shape;478;p42"/>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479" name="Google Shape;479;p42"/>
          <p:cNvGrpSpPr/>
          <p:nvPr/>
        </p:nvGrpSpPr>
        <p:grpSpPr>
          <a:xfrm>
            <a:off x="1648979" y="4353158"/>
            <a:ext cx="5846044" cy="5846043"/>
            <a:chOff x="0" y="0"/>
            <a:chExt cx="812800" cy="812800"/>
          </a:xfrm>
        </p:grpSpPr>
        <p:sp>
          <p:nvSpPr>
            <p:cNvPr id="480" name="Google Shape;480;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1" name="Google Shape;481;p4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82" name="Google Shape;482;p42"/>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83" name="Google Shape;483;p42"/>
          <p:cNvSpPr/>
          <p:nvPr/>
        </p:nvSpPr>
        <p:spPr>
          <a:xfrm rot="5400000">
            <a:off x="-630969"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84" name="Google Shape;484;p42"/>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485" name="Google Shape;485;p42"/>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486" name="Google Shape;486;p42"/>
          <p:cNvSpPr txBox="1"/>
          <p:nvPr/>
        </p:nvSpPr>
        <p:spPr>
          <a:xfrm>
            <a:off x="1163950" y="1427925"/>
            <a:ext cx="6452400" cy="346320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lang="en" sz="1500">
                <a:solidFill>
                  <a:srgbClr val="122857"/>
                </a:solidFill>
                <a:latin typeface="Sura"/>
                <a:ea typeface="Sura"/>
                <a:cs typeface="Sura"/>
                <a:sym typeface="Sura"/>
              </a:rPr>
              <a:t>Conclusion:</a:t>
            </a:r>
            <a:endParaRPr sz="1500">
              <a:solidFill>
                <a:srgbClr val="122857"/>
              </a:solidFill>
              <a:latin typeface="Sura"/>
              <a:ea typeface="Sura"/>
              <a:cs typeface="Sura"/>
              <a:sym typeface="Sura"/>
            </a:endParaRPr>
          </a:p>
          <a:p>
            <a:pPr indent="-323850" lvl="0" marL="457200" rtl="0" algn="just">
              <a:lnSpc>
                <a:spcPct val="139993"/>
              </a:lnSpc>
              <a:spcBef>
                <a:spcPts val="0"/>
              </a:spcBef>
              <a:spcAft>
                <a:spcPts val="0"/>
              </a:spcAft>
              <a:buClr>
                <a:srgbClr val="122857"/>
              </a:buClr>
              <a:buSzPts val="1500"/>
              <a:buFont typeface="Sura"/>
              <a:buChar char="●"/>
            </a:pPr>
            <a:r>
              <a:rPr lang="en" sz="1500">
                <a:solidFill>
                  <a:srgbClr val="122857"/>
                </a:solidFill>
                <a:latin typeface="Sura"/>
                <a:ea typeface="Sura"/>
                <a:cs typeface="Sura"/>
                <a:sym typeface="Sura"/>
              </a:rPr>
              <a:t>Different symptoms have different predictors.</a:t>
            </a:r>
            <a:endParaRPr sz="1500">
              <a:solidFill>
                <a:srgbClr val="122857"/>
              </a:solidFill>
              <a:latin typeface="Sura"/>
              <a:ea typeface="Sura"/>
              <a:cs typeface="Sura"/>
              <a:sym typeface="Sura"/>
            </a:endParaRPr>
          </a:p>
          <a:p>
            <a:pPr indent="-323850" lvl="0" marL="457200" rtl="0" algn="just">
              <a:lnSpc>
                <a:spcPct val="139993"/>
              </a:lnSpc>
              <a:spcBef>
                <a:spcPts val="0"/>
              </a:spcBef>
              <a:spcAft>
                <a:spcPts val="0"/>
              </a:spcAft>
              <a:buClr>
                <a:srgbClr val="122857"/>
              </a:buClr>
              <a:buSzPts val="1500"/>
              <a:buFont typeface="Sura"/>
              <a:buChar char="●"/>
            </a:pPr>
            <a:r>
              <a:rPr lang="en" sz="1500">
                <a:solidFill>
                  <a:srgbClr val="122857"/>
                </a:solidFill>
                <a:latin typeface="Sura"/>
                <a:ea typeface="Sura"/>
                <a:cs typeface="Sura"/>
                <a:sym typeface="Sura"/>
              </a:rPr>
              <a:t>Psychosocial factors matter more for some symptoms (fatigue, sleep problem, headache, dizziness).</a:t>
            </a:r>
            <a:r>
              <a:rPr lang="en" sz="1100">
                <a:solidFill>
                  <a:srgbClr val="122857"/>
                </a:solidFill>
                <a:latin typeface="Sura"/>
                <a:ea typeface="Sura"/>
                <a:cs typeface="Sura"/>
                <a:sym typeface="Sura"/>
              </a:rPr>
              <a:t>(stress, identity-related traits)</a:t>
            </a:r>
            <a:endParaRPr sz="1100">
              <a:solidFill>
                <a:srgbClr val="122857"/>
              </a:solidFill>
              <a:latin typeface="Sura"/>
              <a:ea typeface="Sura"/>
              <a:cs typeface="Sura"/>
              <a:sym typeface="Sura"/>
            </a:endParaRPr>
          </a:p>
          <a:p>
            <a:pPr indent="-323850" lvl="0" marL="457200" rtl="0" algn="just">
              <a:lnSpc>
                <a:spcPct val="139993"/>
              </a:lnSpc>
              <a:spcBef>
                <a:spcPts val="0"/>
              </a:spcBef>
              <a:spcAft>
                <a:spcPts val="0"/>
              </a:spcAft>
              <a:buClr>
                <a:srgbClr val="122857"/>
              </a:buClr>
              <a:buSzPts val="1500"/>
              <a:buFont typeface="Sura"/>
              <a:buChar char="●"/>
            </a:pPr>
            <a:r>
              <a:rPr lang="en" sz="1500">
                <a:solidFill>
                  <a:srgbClr val="122857"/>
                </a:solidFill>
                <a:latin typeface="Sura"/>
                <a:ea typeface="Sura"/>
                <a:cs typeface="Sura"/>
                <a:sym typeface="Sura"/>
              </a:rPr>
              <a:t>Physiological factors likely play a larger role for others (chest pain, shortness of breath).</a:t>
            </a:r>
            <a:endParaRPr sz="1500">
              <a:solidFill>
                <a:srgbClr val="122857"/>
              </a:solidFill>
              <a:latin typeface="Sura"/>
              <a:ea typeface="Sura"/>
              <a:cs typeface="Sura"/>
              <a:sym typeface="Sura"/>
            </a:endParaRPr>
          </a:p>
          <a:p>
            <a:pPr indent="0" lvl="0" marL="0" marR="0" rtl="0" algn="just">
              <a:lnSpc>
                <a:spcPct val="139993"/>
              </a:lnSpc>
              <a:spcBef>
                <a:spcPts val="0"/>
              </a:spcBef>
              <a:spcAft>
                <a:spcPts val="0"/>
              </a:spcAft>
              <a:buNone/>
            </a:pPr>
            <a:r>
              <a:rPr lang="en" sz="1500">
                <a:solidFill>
                  <a:srgbClr val="122857"/>
                </a:solidFill>
                <a:latin typeface="Sura"/>
                <a:ea typeface="Sura"/>
                <a:cs typeface="Sura"/>
                <a:sym typeface="Sura"/>
              </a:rPr>
              <a:t>Limitation:</a:t>
            </a:r>
            <a:endParaRPr sz="1500">
              <a:solidFill>
                <a:srgbClr val="122857"/>
              </a:solidFill>
              <a:latin typeface="Sura"/>
              <a:ea typeface="Sura"/>
              <a:cs typeface="Sura"/>
              <a:sym typeface="Sura"/>
            </a:endParaRPr>
          </a:p>
          <a:p>
            <a:pPr indent="-323850" lvl="0" marL="457200" marR="0" rtl="0" algn="just">
              <a:lnSpc>
                <a:spcPct val="139993"/>
              </a:lnSpc>
              <a:spcBef>
                <a:spcPts val="0"/>
              </a:spcBef>
              <a:spcAft>
                <a:spcPts val="0"/>
              </a:spcAft>
              <a:buClr>
                <a:srgbClr val="122857"/>
              </a:buClr>
              <a:buSzPts val="1500"/>
              <a:buFont typeface="Sura"/>
              <a:buChar char="●"/>
            </a:pPr>
            <a:r>
              <a:rPr lang="en" sz="1500">
                <a:solidFill>
                  <a:srgbClr val="122857"/>
                </a:solidFill>
                <a:latin typeface="Sura"/>
                <a:ea typeface="Sura"/>
                <a:cs typeface="Sura"/>
                <a:sym typeface="Sura"/>
              </a:rPr>
              <a:t>Young adult sample only</a:t>
            </a:r>
            <a:endParaRPr sz="1500">
              <a:solidFill>
                <a:srgbClr val="122857"/>
              </a:solidFill>
              <a:latin typeface="Sura"/>
              <a:ea typeface="Sura"/>
              <a:cs typeface="Sura"/>
              <a:sym typeface="Sura"/>
            </a:endParaRPr>
          </a:p>
          <a:p>
            <a:pPr indent="-323850" lvl="0" marL="457200" marR="0" rtl="0" algn="just">
              <a:lnSpc>
                <a:spcPct val="139993"/>
              </a:lnSpc>
              <a:spcBef>
                <a:spcPts val="0"/>
              </a:spcBef>
              <a:spcAft>
                <a:spcPts val="0"/>
              </a:spcAft>
              <a:buClr>
                <a:srgbClr val="122857"/>
              </a:buClr>
              <a:buSzPts val="1500"/>
              <a:buFont typeface="Sura"/>
              <a:buChar char="●"/>
            </a:pPr>
            <a:r>
              <a:rPr lang="en" sz="1500">
                <a:solidFill>
                  <a:srgbClr val="122857"/>
                </a:solidFill>
                <a:latin typeface="Sura"/>
                <a:ea typeface="Sura"/>
                <a:cs typeface="Sura"/>
                <a:sym typeface="Sura"/>
              </a:rPr>
              <a:t>Self-reported symptoms</a:t>
            </a:r>
            <a:endParaRPr sz="1500">
              <a:solidFill>
                <a:srgbClr val="122857"/>
              </a:solidFill>
              <a:latin typeface="Sura"/>
              <a:ea typeface="Sura"/>
              <a:cs typeface="Sura"/>
              <a:sym typeface="Sura"/>
            </a:endParaRPr>
          </a:p>
          <a:p>
            <a:pPr indent="-323850" lvl="0" marL="457200" marR="0" rtl="0" algn="just">
              <a:lnSpc>
                <a:spcPct val="139993"/>
              </a:lnSpc>
              <a:spcBef>
                <a:spcPts val="0"/>
              </a:spcBef>
              <a:spcAft>
                <a:spcPts val="0"/>
              </a:spcAft>
              <a:buClr>
                <a:srgbClr val="122857"/>
              </a:buClr>
              <a:buSzPts val="1500"/>
              <a:buFont typeface="Sura"/>
              <a:buChar char="●"/>
            </a:pPr>
            <a:r>
              <a:rPr lang="en" sz="1500">
                <a:solidFill>
                  <a:srgbClr val="122857"/>
                </a:solidFill>
                <a:latin typeface="Sura"/>
                <a:ea typeface="Sura"/>
                <a:cs typeface="Sura"/>
                <a:sym typeface="Sura"/>
              </a:rPr>
              <a:t>Generalizability</a:t>
            </a:r>
            <a:endParaRPr sz="1500">
              <a:solidFill>
                <a:srgbClr val="122857"/>
              </a:solidFill>
              <a:latin typeface="Sura"/>
              <a:ea typeface="Sura"/>
              <a:cs typeface="Sura"/>
              <a:sym typeface="Sura"/>
            </a:endParaRPr>
          </a:p>
          <a:p>
            <a:pPr indent="0" lvl="0" marL="0" marR="0" rtl="0" algn="just">
              <a:lnSpc>
                <a:spcPct val="139993"/>
              </a:lnSpc>
              <a:spcBef>
                <a:spcPts val="0"/>
              </a:spcBef>
              <a:spcAft>
                <a:spcPts val="0"/>
              </a:spcAft>
              <a:buNone/>
            </a:pPr>
            <a:r>
              <a:t/>
            </a:r>
            <a:endParaRPr sz="1500">
              <a:solidFill>
                <a:srgbClr val="122857"/>
              </a:solidFill>
            </a:endParaRPr>
          </a:p>
        </p:txBody>
      </p:sp>
      <p:sp>
        <p:nvSpPr>
          <p:cNvPr id="487" name="Google Shape;487;p42"/>
          <p:cNvSpPr txBox="1"/>
          <p:nvPr/>
        </p:nvSpPr>
        <p:spPr>
          <a:xfrm>
            <a:off x="1479125" y="935317"/>
            <a:ext cx="6536700" cy="492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 sz="4000">
                <a:solidFill>
                  <a:srgbClr val="122857"/>
                </a:solidFill>
                <a:latin typeface="Sura"/>
                <a:ea typeface="Sura"/>
                <a:cs typeface="Sura"/>
                <a:sym typeface="Sura"/>
              </a:rPr>
              <a:t>Discussion &amp; Limitations</a:t>
            </a:r>
            <a:endParaRPr b="1" sz="4000">
              <a:solidFill>
                <a:srgbClr val="122857"/>
              </a:solidFill>
              <a:latin typeface="Sura"/>
              <a:ea typeface="Sura"/>
              <a:cs typeface="Sura"/>
              <a:sym typeface="Su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491" name="Shape 491"/>
        <p:cNvGrpSpPr/>
        <p:nvPr/>
      </p:nvGrpSpPr>
      <p:grpSpPr>
        <a:xfrm>
          <a:off x="0" y="0"/>
          <a:ext cx="0" cy="0"/>
          <a:chOff x="0" y="0"/>
          <a:chExt cx="0" cy="0"/>
        </a:xfrm>
      </p:grpSpPr>
      <p:grpSp>
        <p:nvGrpSpPr>
          <p:cNvPr id="492" name="Google Shape;492;p43"/>
          <p:cNvGrpSpPr/>
          <p:nvPr/>
        </p:nvGrpSpPr>
        <p:grpSpPr>
          <a:xfrm>
            <a:off x="514350" y="423939"/>
            <a:ext cx="8115140" cy="4205336"/>
            <a:chOff x="0" y="-47625"/>
            <a:chExt cx="4274726" cy="2215200"/>
          </a:xfrm>
        </p:grpSpPr>
        <p:sp>
          <p:nvSpPr>
            <p:cNvPr id="493" name="Google Shape;493;p43"/>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AF2"/>
            </a:solidFill>
            <a:ln cap="sq" cmpd="sng" w="38100">
              <a:solidFill>
                <a:srgbClr val="052F58"/>
              </a:solidFill>
              <a:prstDash val="solid"/>
              <a:miter lim="8000"/>
              <a:headEnd len="sm" w="sm" type="none"/>
              <a:tailEnd len="sm" w="sm" type="none"/>
            </a:ln>
          </p:spPr>
        </p:sp>
        <p:sp>
          <p:nvSpPr>
            <p:cNvPr id="494" name="Google Shape;494;p43"/>
            <p:cNvSpPr txBox="1"/>
            <p:nvPr/>
          </p:nvSpPr>
          <p:spPr>
            <a:xfrm>
              <a:off x="0" y="-47625"/>
              <a:ext cx="4274700" cy="2215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95" name="Google Shape;495;p43"/>
          <p:cNvSpPr/>
          <p:nvPr/>
        </p:nvSpPr>
        <p:spPr>
          <a:xfrm>
            <a:off x="7334402" y="3690719"/>
            <a:ext cx="3650005" cy="2953186"/>
          </a:xfrm>
          <a:custGeom>
            <a:rect b="b" l="l" r="r" t="t"/>
            <a:pathLst>
              <a:path extrusionOk="0" h="5906371" w="7300009">
                <a:moveTo>
                  <a:pt x="0" y="0"/>
                </a:moveTo>
                <a:lnTo>
                  <a:pt x="7300009" y="0"/>
                </a:lnTo>
                <a:lnTo>
                  <a:pt x="7300009" y="5906372"/>
                </a:lnTo>
                <a:lnTo>
                  <a:pt x="0" y="5906372"/>
                </a:lnTo>
                <a:lnTo>
                  <a:pt x="0" y="0"/>
                </a:lnTo>
                <a:close/>
              </a:path>
            </a:pathLst>
          </a:custGeom>
          <a:blipFill rotWithShape="1">
            <a:blip r:embed="rId3">
              <a:alphaModFix/>
            </a:blip>
            <a:stretch>
              <a:fillRect b="0" l="0" r="0" t="0"/>
            </a:stretch>
          </a:blipFill>
          <a:ln>
            <a:noFill/>
          </a:ln>
        </p:spPr>
      </p:sp>
      <p:sp>
        <p:nvSpPr>
          <p:cNvPr id="496" name="Google Shape;496;p43"/>
          <p:cNvSpPr/>
          <p:nvPr/>
        </p:nvSpPr>
        <p:spPr>
          <a:xfrm>
            <a:off x="-1882289" y="3697824"/>
            <a:ext cx="3650005" cy="2953185"/>
          </a:xfrm>
          <a:custGeom>
            <a:rect b="b" l="l" r="r" t="t"/>
            <a:pathLst>
              <a:path extrusionOk="0" h="5906371" w="7300009">
                <a:moveTo>
                  <a:pt x="0" y="0"/>
                </a:moveTo>
                <a:lnTo>
                  <a:pt x="7300010" y="0"/>
                </a:lnTo>
                <a:lnTo>
                  <a:pt x="7300010" y="5906372"/>
                </a:lnTo>
                <a:lnTo>
                  <a:pt x="0" y="5906372"/>
                </a:lnTo>
                <a:lnTo>
                  <a:pt x="0" y="0"/>
                </a:lnTo>
                <a:close/>
              </a:path>
            </a:pathLst>
          </a:custGeom>
          <a:blipFill rotWithShape="1">
            <a:blip r:embed="rId3">
              <a:alphaModFix/>
            </a:blip>
            <a:stretch>
              <a:fillRect b="0" l="0" r="0" t="0"/>
            </a:stretch>
          </a:blipFill>
          <a:ln>
            <a:noFill/>
          </a:ln>
        </p:spPr>
      </p:sp>
      <p:grpSp>
        <p:nvGrpSpPr>
          <p:cNvPr id="497" name="Google Shape;497;p43"/>
          <p:cNvGrpSpPr/>
          <p:nvPr/>
        </p:nvGrpSpPr>
        <p:grpSpPr>
          <a:xfrm>
            <a:off x="1648978" y="4353158"/>
            <a:ext cx="5846064" cy="5846064"/>
            <a:chOff x="0" y="0"/>
            <a:chExt cx="812800" cy="812800"/>
          </a:xfrm>
        </p:grpSpPr>
        <p:sp>
          <p:nvSpPr>
            <p:cNvPr id="498" name="Google Shape;498;p4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558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9" name="Google Shape;499;p43"/>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00" name="Google Shape;500;p43"/>
          <p:cNvSpPr/>
          <p:nvPr/>
        </p:nvSpPr>
        <p:spPr>
          <a:xfrm>
            <a:off x="-57287" y="4353158"/>
            <a:ext cx="1965667"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501" name="Google Shape;501;p43"/>
          <p:cNvSpPr/>
          <p:nvPr/>
        </p:nvSpPr>
        <p:spPr>
          <a:xfrm rot="5400000">
            <a:off x="-63097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502" name="Google Shape;502;p43"/>
          <p:cNvSpPr/>
          <p:nvPr/>
        </p:nvSpPr>
        <p:spPr>
          <a:xfrm>
            <a:off x="7239652" y="4279202"/>
            <a:ext cx="1965666" cy="1333079"/>
          </a:xfrm>
          <a:custGeom>
            <a:rect b="b" l="l" r="r" t="t"/>
            <a:pathLst>
              <a:path extrusionOk="0" h="2666158" w="3931333">
                <a:moveTo>
                  <a:pt x="0" y="0"/>
                </a:moveTo>
                <a:lnTo>
                  <a:pt x="3931333" y="0"/>
                </a:lnTo>
                <a:lnTo>
                  <a:pt x="3931333" y="2666158"/>
                </a:lnTo>
                <a:lnTo>
                  <a:pt x="0" y="2666158"/>
                </a:lnTo>
                <a:lnTo>
                  <a:pt x="0" y="0"/>
                </a:lnTo>
                <a:close/>
              </a:path>
            </a:pathLst>
          </a:custGeom>
          <a:blipFill rotWithShape="1">
            <a:blip r:embed="rId4">
              <a:alphaModFix/>
            </a:blip>
            <a:stretch>
              <a:fillRect b="0" l="0" r="0" t="0"/>
            </a:stretch>
          </a:blipFill>
          <a:ln>
            <a:noFill/>
          </a:ln>
        </p:spPr>
      </p:sp>
      <p:sp>
        <p:nvSpPr>
          <p:cNvPr id="503" name="Google Shape;503;p43"/>
          <p:cNvSpPr/>
          <p:nvPr/>
        </p:nvSpPr>
        <p:spPr>
          <a:xfrm rot="5400000">
            <a:off x="7787357"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5">
              <a:alphaModFix/>
            </a:blip>
            <a:stretch>
              <a:fillRect b="0" l="0" r="0" t="0"/>
            </a:stretch>
          </a:blipFill>
          <a:ln>
            <a:noFill/>
          </a:ln>
        </p:spPr>
      </p:sp>
      <p:sp>
        <p:nvSpPr>
          <p:cNvPr id="504" name="Google Shape;504;p43"/>
          <p:cNvSpPr txBox="1"/>
          <p:nvPr/>
        </p:nvSpPr>
        <p:spPr>
          <a:xfrm>
            <a:off x="1479125" y="963475"/>
            <a:ext cx="6536700" cy="9852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 sz="4000">
                <a:solidFill>
                  <a:srgbClr val="122857"/>
                </a:solidFill>
                <a:latin typeface="Sura"/>
                <a:ea typeface="Sura"/>
                <a:cs typeface="Sura"/>
                <a:sym typeface="Sura"/>
              </a:rPr>
              <a:t>Future Direction</a:t>
            </a:r>
            <a:endParaRPr b="1" sz="4000">
              <a:solidFill>
                <a:srgbClr val="122857"/>
              </a:solidFill>
              <a:latin typeface="Sura"/>
              <a:ea typeface="Sura"/>
              <a:cs typeface="Sura"/>
              <a:sym typeface="Sura"/>
            </a:endParaRPr>
          </a:p>
          <a:p>
            <a:pPr indent="0" lvl="0" marL="0" marR="0" rtl="0" algn="ctr">
              <a:lnSpc>
                <a:spcPct val="80000"/>
              </a:lnSpc>
              <a:spcBef>
                <a:spcPts val="0"/>
              </a:spcBef>
              <a:spcAft>
                <a:spcPts val="0"/>
              </a:spcAft>
              <a:buNone/>
            </a:pPr>
            <a:r>
              <a:t/>
            </a:r>
            <a:endParaRPr b="1" sz="4000">
              <a:solidFill>
                <a:srgbClr val="122857"/>
              </a:solidFill>
              <a:latin typeface="Sura"/>
              <a:ea typeface="Sura"/>
              <a:cs typeface="Sura"/>
              <a:sym typeface="Sura"/>
            </a:endParaRPr>
          </a:p>
        </p:txBody>
      </p:sp>
      <p:sp>
        <p:nvSpPr>
          <p:cNvPr id="505" name="Google Shape;505;p43"/>
          <p:cNvSpPr txBox="1"/>
          <p:nvPr/>
        </p:nvSpPr>
        <p:spPr>
          <a:xfrm>
            <a:off x="932075" y="1493125"/>
            <a:ext cx="7019700" cy="2204700"/>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Clr>
                <a:srgbClr val="122857"/>
              </a:buClr>
              <a:buSzPts val="1400"/>
              <a:buFont typeface="Sura"/>
              <a:buChar char="●"/>
            </a:pPr>
            <a:r>
              <a:rPr b="1" lang="en">
                <a:solidFill>
                  <a:srgbClr val="122857"/>
                </a:solidFill>
                <a:latin typeface="Sura"/>
                <a:ea typeface="Sura"/>
                <a:cs typeface="Sura"/>
                <a:sym typeface="Sura"/>
              </a:rPr>
              <a:t>Expand to additional somatic symptoms</a:t>
            </a:r>
            <a:endParaRPr b="1">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(include more PHQ items and symptom-specific models)</a:t>
            </a:r>
            <a:endParaRPr>
              <a:solidFill>
                <a:srgbClr val="122857"/>
              </a:solidFill>
              <a:latin typeface="Sura"/>
              <a:ea typeface="Sura"/>
              <a:cs typeface="Sura"/>
              <a:sym typeface="Sura"/>
            </a:endParaRPr>
          </a:p>
          <a:p>
            <a:pPr indent="-317500" lvl="0" marL="457200" rtl="0" algn="just">
              <a:lnSpc>
                <a:spcPct val="115000"/>
              </a:lnSpc>
              <a:spcBef>
                <a:spcPts val="0"/>
              </a:spcBef>
              <a:spcAft>
                <a:spcPts val="0"/>
              </a:spcAft>
              <a:buClr>
                <a:srgbClr val="122857"/>
              </a:buClr>
              <a:buSzPts val="1400"/>
              <a:buFont typeface="Sura"/>
              <a:buChar char="●"/>
            </a:pPr>
            <a:r>
              <a:rPr b="1" lang="en">
                <a:solidFill>
                  <a:srgbClr val="122857"/>
                </a:solidFill>
                <a:latin typeface="Sura"/>
                <a:ea typeface="Sura"/>
                <a:cs typeface="Sura"/>
                <a:sym typeface="Sura"/>
              </a:rPr>
              <a:t>Incorporate predictors related to psychopathology</a:t>
            </a:r>
            <a:endParaRPr b="1">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(e.g., anxiety, depression, trauma-related symptoms)</a:t>
            </a:r>
            <a:endParaRPr>
              <a:solidFill>
                <a:srgbClr val="122857"/>
              </a:solidFill>
              <a:latin typeface="Sura"/>
              <a:ea typeface="Sura"/>
              <a:cs typeface="Sura"/>
              <a:sym typeface="Sura"/>
            </a:endParaRPr>
          </a:p>
          <a:p>
            <a:pPr indent="-317500" lvl="0" marL="457200" rtl="0" algn="just">
              <a:lnSpc>
                <a:spcPct val="115000"/>
              </a:lnSpc>
              <a:spcBef>
                <a:spcPts val="0"/>
              </a:spcBef>
              <a:spcAft>
                <a:spcPts val="0"/>
              </a:spcAft>
              <a:buClr>
                <a:srgbClr val="122857"/>
              </a:buClr>
              <a:buSzPts val="1400"/>
              <a:buFont typeface="Sura"/>
              <a:buChar char="●"/>
            </a:pPr>
            <a:r>
              <a:rPr b="1" lang="en">
                <a:solidFill>
                  <a:srgbClr val="122857"/>
                </a:solidFill>
                <a:latin typeface="Sura"/>
                <a:ea typeface="Sura"/>
                <a:cs typeface="Sura"/>
                <a:sym typeface="Sura"/>
              </a:rPr>
              <a:t>Validate our models using a national dataset (Add Health)</a:t>
            </a:r>
            <a:endParaRPr b="1">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 Test model performance in a large, representative U.S. sample</a:t>
            </a:r>
            <a:endParaRPr>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 Examine whether relationships replicate across populations</a:t>
            </a:r>
            <a:endParaRPr>
              <a:solidFill>
                <a:srgbClr val="122857"/>
              </a:solidFill>
              <a:latin typeface="Sura"/>
              <a:ea typeface="Sura"/>
              <a:cs typeface="Sura"/>
              <a:sym typeface="Sura"/>
            </a:endParaRPr>
          </a:p>
          <a:p>
            <a:pPr indent="-317500" lvl="0" marL="457200" rtl="0" algn="just">
              <a:lnSpc>
                <a:spcPct val="115000"/>
              </a:lnSpc>
              <a:spcBef>
                <a:spcPts val="0"/>
              </a:spcBef>
              <a:spcAft>
                <a:spcPts val="0"/>
              </a:spcAft>
              <a:buClr>
                <a:srgbClr val="122857"/>
              </a:buClr>
              <a:buSzPts val="1400"/>
              <a:buFont typeface="Sura"/>
              <a:buChar char="●"/>
            </a:pPr>
            <a:r>
              <a:rPr b="1" lang="en">
                <a:solidFill>
                  <a:srgbClr val="122857"/>
                </a:solidFill>
                <a:latin typeface="Sura"/>
                <a:ea typeface="Sura"/>
                <a:cs typeface="Sura"/>
                <a:sym typeface="Sura"/>
              </a:rPr>
              <a:t>Build a more generalized prediction framework</a:t>
            </a:r>
            <a:endParaRPr b="1">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 Compare cross-dataset performance</a:t>
            </a:r>
            <a:endParaRPr>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 Identify stable predictors across multiple symptoms</a:t>
            </a:r>
            <a:endParaRPr>
              <a:solidFill>
                <a:srgbClr val="122857"/>
              </a:solidFill>
              <a:latin typeface="Sura"/>
              <a:ea typeface="Sura"/>
              <a:cs typeface="Sura"/>
              <a:sym typeface="Sura"/>
            </a:endParaRPr>
          </a:p>
          <a:p>
            <a:pPr indent="0" lvl="0" marL="457200" rtl="0" algn="just">
              <a:lnSpc>
                <a:spcPct val="115000"/>
              </a:lnSpc>
              <a:spcBef>
                <a:spcPts val="0"/>
              </a:spcBef>
              <a:spcAft>
                <a:spcPts val="0"/>
              </a:spcAft>
              <a:buNone/>
            </a:pPr>
            <a:r>
              <a:rPr lang="en">
                <a:solidFill>
                  <a:srgbClr val="122857"/>
                </a:solidFill>
                <a:latin typeface="Sura"/>
                <a:ea typeface="Sura"/>
                <a:cs typeface="Sura"/>
                <a:sym typeface="Sura"/>
              </a:rPr>
              <a:t>– Improve interpretability and potential clinical relevance</a:t>
            </a:r>
            <a:endParaRPr>
              <a:solidFill>
                <a:srgbClr val="122857"/>
              </a:solidFill>
              <a:latin typeface="Sura"/>
              <a:ea typeface="Sura"/>
              <a:cs typeface="Sura"/>
              <a:sym typeface="Su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F2"/>
        </a:solidFill>
      </p:bgPr>
    </p:bg>
    <p:spTree>
      <p:nvGrpSpPr>
        <p:cNvPr id="509" name="Shape 509"/>
        <p:cNvGrpSpPr/>
        <p:nvPr/>
      </p:nvGrpSpPr>
      <p:grpSpPr>
        <a:xfrm>
          <a:off x="0" y="0"/>
          <a:ext cx="0" cy="0"/>
          <a:chOff x="0" y="0"/>
          <a:chExt cx="0" cy="0"/>
        </a:xfrm>
      </p:grpSpPr>
      <p:sp>
        <p:nvSpPr>
          <p:cNvPr id="510" name="Google Shape;510;p44"/>
          <p:cNvSpPr/>
          <p:nvPr/>
        </p:nvSpPr>
        <p:spPr>
          <a:xfrm rot="5400000">
            <a:off x="7786240" y="630970"/>
            <a:ext cx="1988730" cy="726790"/>
          </a:xfrm>
          <a:custGeom>
            <a:rect b="b" l="l" r="r" t="t"/>
            <a:pathLst>
              <a:path extrusionOk="0" h="1453580" w="3977459">
                <a:moveTo>
                  <a:pt x="0" y="0"/>
                </a:moveTo>
                <a:lnTo>
                  <a:pt x="3977459" y="0"/>
                </a:lnTo>
                <a:lnTo>
                  <a:pt x="3977459" y="1453581"/>
                </a:lnTo>
                <a:lnTo>
                  <a:pt x="0" y="1453581"/>
                </a:lnTo>
                <a:lnTo>
                  <a:pt x="0" y="0"/>
                </a:lnTo>
                <a:close/>
              </a:path>
            </a:pathLst>
          </a:custGeom>
          <a:blipFill rotWithShape="1">
            <a:blip r:embed="rId3">
              <a:alphaModFix/>
            </a:blip>
            <a:stretch>
              <a:fillRect b="0" l="0" r="0" t="0"/>
            </a:stretch>
          </a:blipFill>
          <a:ln>
            <a:noFill/>
          </a:ln>
        </p:spPr>
      </p:sp>
      <p:sp>
        <p:nvSpPr>
          <p:cNvPr id="511" name="Google Shape;511;p44"/>
          <p:cNvSpPr/>
          <p:nvPr/>
        </p:nvSpPr>
        <p:spPr>
          <a:xfrm rot="5400000">
            <a:off x="-630969" y="3798598"/>
            <a:ext cx="1988729" cy="726790"/>
          </a:xfrm>
          <a:custGeom>
            <a:rect b="b" l="l" r="r" t="t"/>
            <a:pathLst>
              <a:path extrusionOk="0" h="1453580" w="3977459">
                <a:moveTo>
                  <a:pt x="0" y="0"/>
                </a:moveTo>
                <a:lnTo>
                  <a:pt x="3977459" y="0"/>
                </a:lnTo>
                <a:lnTo>
                  <a:pt x="3977459" y="1453580"/>
                </a:lnTo>
                <a:lnTo>
                  <a:pt x="0" y="1453580"/>
                </a:lnTo>
                <a:lnTo>
                  <a:pt x="0" y="0"/>
                </a:lnTo>
                <a:close/>
              </a:path>
            </a:pathLst>
          </a:custGeom>
          <a:blipFill rotWithShape="1">
            <a:blip r:embed="rId3">
              <a:alphaModFix/>
            </a:blip>
            <a:stretch>
              <a:fillRect b="0" l="0" r="0" t="0"/>
            </a:stretch>
          </a:blipFill>
          <a:ln>
            <a:noFill/>
          </a:ln>
        </p:spPr>
      </p:sp>
      <p:grpSp>
        <p:nvGrpSpPr>
          <p:cNvPr id="512" name="Google Shape;512;p44"/>
          <p:cNvGrpSpPr/>
          <p:nvPr/>
        </p:nvGrpSpPr>
        <p:grpSpPr>
          <a:xfrm>
            <a:off x="925546" y="1137530"/>
            <a:ext cx="7296939" cy="3007415"/>
            <a:chOff x="0" y="-47625"/>
            <a:chExt cx="3843655" cy="1584153"/>
          </a:xfrm>
        </p:grpSpPr>
        <p:sp>
          <p:nvSpPr>
            <p:cNvPr id="513" name="Google Shape;513;p44"/>
            <p:cNvSpPr/>
            <p:nvPr/>
          </p:nvSpPr>
          <p:spPr>
            <a:xfrm>
              <a:off x="0" y="0"/>
              <a:ext cx="3843655" cy="1536528"/>
            </a:xfrm>
            <a:custGeom>
              <a:rect b="b" l="l" r="r" t="t"/>
              <a:pathLst>
                <a:path extrusionOk="0" h="1536528" w="3843655">
                  <a:moveTo>
                    <a:pt x="0" y="0"/>
                  </a:moveTo>
                  <a:lnTo>
                    <a:pt x="3843655" y="0"/>
                  </a:lnTo>
                  <a:lnTo>
                    <a:pt x="3843655" y="1536528"/>
                  </a:lnTo>
                  <a:lnTo>
                    <a:pt x="0" y="1536528"/>
                  </a:lnTo>
                  <a:close/>
                </a:path>
              </a:pathLst>
            </a:custGeom>
            <a:solidFill>
              <a:srgbClr val="FFFAF2"/>
            </a:solidFill>
            <a:ln cap="sq" cmpd="sng" w="38100">
              <a:solidFill>
                <a:srgbClr val="052F58"/>
              </a:solidFill>
              <a:prstDash val="solid"/>
              <a:miter lim="8000"/>
              <a:headEnd len="sm" w="sm" type="none"/>
              <a:tailEnd len="sm" w="sm" type="none"/>
            </a:ln>
          </p:spPr>
        </p:sp>
        <p:sp>
          <p:nvSpPr>
            <p:cNvPr id="514" name="Google Shape;514;p44"/>
            <p:cNvSpPr txBox="1"/>
            <p:nvPr/>
          </p:nvSpPr>
          <p:spPr>
            <a:xfrm>
              <a:off x="0" y="-47625"/>
              <a:ext cx="3843655" cy="1584153"/>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15" name="Google Shape;515;p44"/>
          <p:cNvSpPr/>
          <p:nvPr/>
        </p:nvSpPr>
        <p:spPr>
          <a:xfrm>
            <a:off x="305683" y="747929"/>
            <a:ext cx="1343295" cy="910999"/>
          </a:xfrm>
          <a:custGeom>
            <a:rect b="b" l="l" r="r" t="t"/>
            <a:pathLst>
              <a:path extrusionOk="0" h="1821997" w="2686590">
                <a:moveTo>
                  <a:pt x="0" y="0"/>
                </a:moveTo>
                <a:lnTo>
                  <a:pt x="2686591" y="0"/>
                </a:lnTo>
                <a:lnTo>
                  <a:pt x="2686591" y="1821996"/>
                </a:lnTo>
                <a:lnTo>
                  <a:pt x="0" y="1821996"/>
                </a:lnTo>
                <a:lnTo>
                  <a:pt x="0" y="0"/>
                </a:lnTo>
                <a:close/>
              </a:path>
            </a:pathLst>
          </a:custGeom>
          <a:blipFill rotWithShape="1">
            <a:blip r:embed="rId4">
              <a:alphaModFix/>
            </a:blip>
            <a:stretch>
              <a:fillRect b="0" l="0" r="0" t="0"/>
            </a:stretch>
          </a:blipFill>
          <a:ln>
            <a:noFill/>
          </a:ln>
        </p:spPr>
      </p:sp>
      <p:sp>
        <p:nvSpPr>
          <p:cNvPr id="516" name="Google Shape;516;p44"/>
          <p:cNvSpPr/>
          <p:nvPr/>
        </p:nvSpPr>
        <p:spPr>
          <a:xfrm>
            <a:off x="7495022" y="3484573"/>
            <a:ext cx="1343295" cy="910999"/>
          </a:xfrm>
          <a:custGeom>
            <a:rect b="b" l="l" r="r" t="t"/>
            <a:pathLst>
              <a:path extrusionOk="0" h="1821997" w="2686590">
                <a:moveTo>
                  <a:pt x="0" y="0"/>
                </a:moveTo>
                <a:lnTo>
                  <a:pt x="2686591" y="0"/>
                </a:lnTo>
                <a:lnTo>
                  <a:pt x="2686591" y="1821996"/>
                </a:lnTo>
                <a:lnTo>
                  <a:pt x="0" y="1821996"/>
                </a:lnTo>
                <a:lnTo>
                  <a:pt x="0" y="0"/>
                </a:lnTo>
                <a:close/>
              </a:path>
            </a:pathLst>
          </a:custGeom>
          <a:blipFill rotWithShape="1">
            <a:blip r:embed="rId4">
              <a:alphaModFix/>
            </a:blip>
            <a:stretch>
              <a:fillRect b="0" l="0" r="0" t="0"/>
            </a:stretch>
          </a:blipFill>
          <a:ln>
            <a:noFill/>
          </a:ln>
        </p:spPr>
      </p:sp>
      <p:sp>
        <p:nvSpPr>
          <p:cNvPr id="517" name="Google Shape;517;p44"/>
          <p:cNvSpPr txBox="1"/>
          <p:nvPr/>
        </p:nvSpPr>
        <p:spPr>
          <a:xfrm>
            <a:off x="2121970" y="3216405"/>
            <a:ext cx="4900060" cy="40770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2900" u="none" cap="none" strike="noStrike">
                <a:solidFill>
                  <a:srgbClr val="122857"/>
                </a:solidFill>
                <a:latin typeface="Arial"/>
                <a:ea typeface="Arial"/>
                <a:cs typeface="Arial"/>
                <a:sym typeface="Arial"/>
              </a:rPr>
              <a:t>For your attention</a:t>
            </a:r>
            <a:endParaRPr sz="700"/>
          </a:p>
        </p:txBody>
      </p:sp>
      <p:sp>
        <p:nvSpPr>
          <p:cNvPr id="518" name="Google Shape;518;p44"/>
          <p:cNvSpPr txBox="1"/>
          <p:nvPr/>
        </p:nvSpPr>
        <p:spPr>
          <a:xfrm>
            <a:off x="1156265" y="2193288"/>
            <a:ext cx="6831469" cy="843189"/>
          </a:xfrm>
          <a:prstGeom prst="rect">
            <a:avLst/>
          </a:prstGeom>
          <a:noFill/>
          <a:ln>
            <a:noFill/>
          </a:ln>
        </p:spPr>
        <p:txBody>
          <a:bodyPr anchorCtr="0" anchor="t" bIns="0" lIns="0" spcFirstLastPara="1" rIns="0" wrap="square" tIns="0">
            <a:spAutoFit/>
          </a:bodyPr>
          <a:lstStyle/>
          <a:p>
            <a:pPr indent="0" lvl="0" marL="0" marR="0" rtl="0" algn="ctr">
              <a:lnSpc>
                <a:spcPct val="80001"/>
              </a:lnSpc>
              <a:spcBef>
                <a:spcPts val="0"/>
              </a:spcBef>
              <a:spcAft>
                <a:spcPts val="0"/>
              </a:spcAft>
              <a:buNone/>
            </a:pPr>
            <a:r>
              <a:rPr b="1" i="0" lang="en" sz="7400" u="none" cap="none" strike="noStrike">
                <a:solidFill>
                  <a:srgbClr val="122857"/>
                </a:solidFill>
                <a:latin typeface="Sura"/>
                <a:ea typeface="Sura"/>
                <a:cs typeface="Sura"/>
                <a:sym typeface="Sura"/>
              </a:rPr>
              <a:t>THANK YOU</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